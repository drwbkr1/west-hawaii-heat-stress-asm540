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d48957c6054a17" /><Relationship Type="http://schemas.openxmlformats.org/officeDocument/2006/relationships/extended-properties" Target="/docProps/app.xml" Id="R31b3cfba954c4e84" /><Relationship Type="http://schemas.openxmlformats.org/officeDocument/2006/relationships/officeDocument" Target="/ppt/presentation.xml" Id="R2441335562d948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726481c94b4c45"/>
  </p:sldMasterIdLst>
  <p:notesMasterIdLst>
    <p:notesMasterId xmlns:r="http://schemas.openxmlformats.org/officeDocument/2006/relationships" r:id="R68211583829d42c6"/>
  </p:notesMasterIdLst>
  <p:sldIdLst>
    <p:sldId xmlns:r="http://schemas.openxmlformats.org/officeDocument/2006/relationships" id="256" r:id="R93b2ac7a5fa744d2"/>
    <p:sldId xmlns:r="http://schemas.openxmlformats.org/officeDocument/2006/relationships" id="257" r:id="R0c5997b6b56341ed"/>
    <p:sldId xmlns:r="http://schemas.openxmlformats.org/officeDocument/2006/relationships" id="258" r:id="R58bb9ad949a44c76"/>
    <p:sldId xmlns:r="http://schemas.openxmlformats.org/officeDocument/2006/relationships" id="259" r:id="Ref715ab3ecab4906"/>
    <p:sldId xmlns:r="http://schemas.openxmlformats.org/officeDocument/2006/relationships" id="260" r:id="Rcbc5fc644c454b6b"/>
    <p:sldId xmlns:r="http://schemas.openxmlformats.org/officeDocument/2006/relationships" id="261" r:id="R9d34da87454648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a2feb2a8f44800" /><Relationship Type="http://schemas.openxmlformats.org/officeDocument/2006/relationships/slideMaster" Target="/ppt/slideMasters/slideMaster1.xml" Id="Ree726481c94b4c45" /><Relationship Type="http://schemas.openxmlformats.org/officeDocument/2006/relationships/notesMaster" Target="/ppt/notesMasters/notesMaster1.xml" Id="R68211583829d42c6" /><Relationship Type="http://schemas.openxmlformats.org/officeDocument/2006/relationships/presProps" Target="/ppt/presProps.xml" Id="Rf8d51dd5aa8c49b4" /><Relationship Type="http://schemas.openxmlformats.org/officeDocument/2006/relationships/tableStyles" Target="/ppt/tableStyles.xml" Id="R67b1fe4859d94c44" /><Relationship Type="http://schemas.openxmlformats.org/officeDocument/2006/relationships/slide" Target="/ppt/slides/slide1.xml" Id="R93b2ac7a5fa744d2" /><Relationship Type="http://schemas.openxmlformats.org/officeDocument/2006/relationships/slide" Target="/ppt/slides/slide2.xml" Id="R0c5997b6b56341ed" /><Relationship Type="http://schemas.openxmlformats.org/officeDocument/2006/relationships/slide" Target="/ppt/slides/slide3.xml" Id="R58bb9ad949a44c76" /><Relationship Type="http://schemas.openxmlformats.org/officeDocument/2006/relationships/slide" Target="/ppt/slides/slide4.xml" Id="Ref715ab3ecab4906" /><Relationship Type="http://schemas.openxmlformats.org/officeDocument/2006/relationships/slide" Target="/ppt/slides/slide5.xml" Id="Rcbc5fc644c454b6b" /><Relationship Type="http://schemas.openxmlformats.org/officeDocument/2006/relationships/slide" Target="/ppt/slides/slide6.xml" Id="R9d34da87454648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b785a71df6c41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8b093d1b3a433e" /><Relationship Type="http://schemas.openxmlformats.org/officeDocument/2006/relationships/notesMaster" Target="/ppt/notesMasters/notesMaster1.xml" Id="R2cef5215e8b54a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80d5ca5eeb4254" /><Relationship Type="http://schemas.openxmlformats.org/officeDocument/2006/relationships/notesMaster" Target="/ppt/notesMasters/notesMaster1.xml" Id="R72a0e5ba562448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2b7eaafbf047a2" /><Relationship Type="http://schemas.openxmlformats.org/officeDocument/2006/relationships/notesMaster" Target="/ppt/notesMasters/notesMaster1.xml" Id="R59df71c662b747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949223211d4fd0" /><Relationship Type="http://schemas.openxmlformats.org/officeDocument/2006/relationships/notesMaster" Target="/ppt/notesMasters/notesMaster1.xml" Id="Redf34176b43a4d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7e01813bc54a16" /><Relationship Type="http://schemas.openxmlformats.org/officeDocument/2006/relationships/notesMaster" Target="/ppt/notesMasters/notesMaster1.xml" Id="Rabfd103eb0cb44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6a044799e84102" /><Relationship Type="http://schemas.openxmlformats.org/officeDocument/2006/relationships/notesMaster" Target="/ppt/notesMasters/notesMaster1.xml" Id="R9192078a181e4e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examine how thermal exposure differed between 2015 and 2019, how satellite SST compared with underwater loggers, and whether random forests improved seven-day SST forecasts.</a:t>
            </a:r>
          </a:p>
          <a:p xmlns:a="http://schemas.openxmlformats.org/drawingml/2006/main">
            <a:r>
              <a:t>NOAA Coral Reef Watch via PacIOOS: https://pae-paha.pacioos.hawaii.edu/erddap/griddap/dhw_5km.html</a:t>
            </a:r>
          </a:p>
          <a:p xmlns:a="http://schemas.openxmlformats.org/drawingml/2006/main">
            <a:r>
              <a:t>NOAA NCEI: https://www.ncei.noaa.gov/erddap/tabledap/CRCP_Subsurface_Temp_Hawaii.html</a:t>
            </a:r>
          </a:p>
          <a:p xmlns:a="http://schemas.openxmlformats.org/drawingml/2006/main">
            <a:r>
              <a:t>NOAA NCCOS habitat: https://products.coastalscience.noaa.gov/collections/benthic/e97hawaii/data2007.aspx</a:t>
            </a:r>
          </a:p>
          <a:p xmlns:a="http://schemas.openxmlformats.org/drawingml/2006/main">
            <a:r>
              <a:t>Project results: https://github.com/drwbkr1/West-Hawaii-Heat-Stress-ASM540/tree/main/Analysis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Regional comparisons use 135 paired cells with complete annual DHW coverage. Q2 uses matching January–June and August–November seasonal windows. Q3 uses chronological model development through 2014 and held-out evaluation for 2015–2025.</a:t>
            </a:r>
          </a:p>
          <a:p xmlns:a="http://schemas.openxmlformats.org/drawingml/2006/main">
            <a:r>
              <a:t>NOAA Coral Reef Watch via PacIOOS: https://pae-paha.pacioos.hawaii.edu/erddap/griddap/dhw_5km.html</a:t>
            </a:r>
          </a:p>
          <a:p xmlns:a="http://schemas.openxmlformats.org/drawingml/2006/main">
            <a:r>
              <a:t>NOAA NCEI: https://www.ncei.noaa.gov/erddap/tabledap/CRCP_Subsurface_Temp_Hawaii.html</a:t>
            </a:r>
          </a:p>
          <a:p xmlns:a="http://schemas.openxmlformats.org/drawingml/2006/main">
            <a:r>
              <a:t>NOAA NCCOS habitat: https://products.coastalscience.noaa.gov/collections/benthic/e97hawaii/data2007.aspx</a:t>
            </a:r>
          </a:p>
          <a:p xmlns:a="http://schemas.openxmlformats.org/drawingml/2006/main">
            <a:r>
              <a:t>Project results: https://github.com/drwbkr1/West-Hawaii-Heat-Stress-ASM540/tree/main/Analysis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Median peak DHW uses the 135 paired valid water cells. Habitat area refers to mapped reef and hardbottom. Assessed habitat totals 4,731.23 ha from 5,702.29 ha mapped. 2019 had a higher median annual mean SST, while 2015 had greater accumulated DHW.</a:t>
            </a:r>
          </a:p>
          <a:p xmlns:a="http://schemas.openxmlformats.org/drawingml/2006/main">
            <a:r>
              <a:t>NOAA Coral Reef Watch via PacIOOS: https://pae-paha.pacioos.hawaii.edu/erddap/griddap/dhw_5km.html</a:t>
            </a:r>
          </a:p>
          <a:p xmlns:a="http://schemas.openxmlformats.org/drawingml/2006/main">
            <a:r>
              <a:t>NOAA NCEI: https://www.ncei.noaa.gov/erddap/tabledap/CRCP_Subsurface_Temp_Hawaii.html</a:t>
            </a:r>
          </a:p>
          <a:p xmlns:a="http://schemas.openxmlformats.org/drawingml/2006/main">
            <a:r>
              <a:t>NOAA NCCOS habitat: https://products.coastalscience.noaa.gov/collections/benthic/e97hawaii/data2007.aspx</a:t>
            </a:r>
          </a:p>
          <a:p xmlns:a="http://schemas.openxmlformats.org/drawingml/2006/main">
            <a:r>
              <a:t>Project results: https://github.com/drwbkr1/West-Hawaii-Heat-Stress-ASM540/tree/main/Analysis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RMSD is the square root of the mean squared satellite-minus-logger temperature difference. These August–November comparisons use 122 complete nights per site and year. Nighttime means use 00:00 to before 06:00 HST with 72 five-minute or 360 one-minute observations.</a:t>
            </a:r>
          </a:p>
          <a:p xmlns:a="http://schemas.openxmlformats.org/drawingml/2006/main">
            <a:r>
              <a:t>NOAA Coral Reef Watch via PacIOOS: https://pae-paha.pacioos.hawaii.edu/erddap/griddap/dhw_5km.html</a:t>
            </a:r>
          </a:p>
          <a:p xmlns:a="http://schemas.openxmlformats.org/drawingml/2006/main">
            <a:r>
              <a:t>NOAA NCEI: https://www.ncei.noaa.gov/erddap/tabledap/CRCP_Subsurface_Temp_Hawaii.html</a:t>
            </a:r>
          </a:p>
          <a:p xmlns:a="http://schemas.openxmlformats.org/drawingml/2006/main">
            <a:r>
              <a:t>NOAA NCCOS habitat: https://products.coastalscience.noaa.gov/collections/benthic/e97hawaii/data2007.aspx</a:t>
            </a:r>
          </a:p>
          <a:p xmlns:a="http://schemas.openxmlformats.org/drawingml/2006/main">
            <a:r>
              <a:t>Project results: https://github.com/drwbkr1/West-Hawaii-Heat-Stress-ASM540/tree/main/Analysis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Forecast target: satellite SST seven days ahead. Train 2003–2013, validation 2014, then refit on eligible pre-2015 examples. A frozen random forest with 300 trees, depth 16, leaf size 20 and seed 540 evaluates 2015–2025. Target-date DHW only groups evaluation results and never serves as a predictor. Persistence copies current SST. Seasonal averages use earlier data around the target day of year. Lower MAE is better.</a:t>
            </a:r>
          </a:p>
          <a:p xmlns:a="http://schemas.openxmlformats.org/drawingml/2006/main">
            <a:r>
              <a:t>NOAA Coral Reef Watch via PacIOOS: https://pae-paha.pacioos.hawaii.edu/erddap/griddap/dhw_5km.html</a:t>
            </a:r>
          </a:p>
          <a:p xmlns:a="http://schemas.openxmlformats.org/drawingml/2006/main">
            <a:r>
              <a:t>NOAA NCEI: https://www.ncei.noaa.gov/erddap/tabledap/CRCP_Subsurface_Temp_Hawaii.html</a:t>
            </a:r>
          </a:p>
          <a:p xmlns:a="http://schemas.openxmlformats.org/drawingml/2006/main">
            <a:r>
              <a:t>NOAA NCCOS habitat: https://products.coastalscience.noaa.gov/collections/benthic/e97hawaii/data2007.aspx</a:t>
            </a:r>
          </a:p>
          <a:p xmlns:a="http://schemas.openxmlformats.org/drawingml/2006/main">
            <a:r>
              <a:t>Project results: https://github.com/drwbkr1/West-Hawaii-Heat-Stress-ASM540/tree/main/Analysis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project evaluates thermal exposure and seven-day satellite SST forecasts at three selected cells. A future extension applies the workflow to Florida.</a:t>
            </a:r>
          </a:p>
          <a:p xmlns:a="http://schemas.openxmlformats.org/drawingml/2006/main">
            <a:r>
              <a:t>StoryMap: https://storymaps.arcgis.com/stories/7e6551719d15418a997e2517c2bc24cc</a:t>
            </a:r>
          </a:p>
          <a:p xmlns:a="http://schemas.openxmlformats.org/drawingml/2006/main">
            <a:r>
              <a:t>NOAA Coral Reef Watch via PacIOOS: https://pae-paha.pacioos.hawaii.edu/erddap/griddap/dhw_5km.html</a:t>
            </a:r>
          </a:p>
          <a:p xmlns:a="http://schemas.openxmlformats.org/drawingml/2006/main">
            <a:r>
              <a:t>NOAA NCEI: https://www.ncei.noaa.gov/erddap/tabledap/CRCP_Subsurface_Temp_Hawaii.html</a:t>
            </a:r>
          </a:p>
          <a:p xmlns:a="http://schemas.openxmlformats.org/drawingml/2006/main">
            <a:r>
              <a:t>NOAA NCCOS habitat: https://products.coastalscience.noaa.gov/collections/benthic/e97hawaii/data2007.aspx</a:t>
            </a:r>
          </a:p>
          <a:p xmlns:a="http://schemas.openxmlformats.org/drawingml/2006/main">
            <a:r>
              <a:t>Project results: https://github.com/drwbkr1/West-Hawaii-Heat-Stress-ASM540/tree/main/Analysis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5497408b3042d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d3ae72339347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fcd591ca7d492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1c17cf41d0437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ac85d2d2c44d1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55ef8c9d1b41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607EDFA-AFF9-4825-A062-630CFA76A7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A52FB4F-98C5-43B0-A2FB-3A5353EB25C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440D25D-AB5B-45C5-A1E1-54B5D10079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3425D7-9CE7-49CF-8338-7B1D365BD4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737F1F2-9001-41C2-A52A-47B7352F26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FB3157F-E46C-4C5E-95D9-30EB518981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553A83E-834B-452E-9431-1B4A6E35C9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0BB8C57-627E-4C07-BF3E-BBE1C8001C3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AE288D-42B7-4B13-AC7C-0E76261476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D2A07F1-A663-49AB-8264-F750329AE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c9a6ab07444f9e" /><Relationship Type="http://schemas.openxmlformats.org/officeDocument/2006/relationships/slideLayout" Target="/ppt/slideLayouts/slideLayout1.xml" Id="R5c7493d7f0b5423d" /><Relationship Type="http://schemas.openxmlformats.org/officeDocument/2006/relationships/slideLayout" Target="/ppt/slideLayouts/slideLayout2.xml" Id="R328c85617e93455d" /><Relationship Type="http://schemas.openxmlformats.org/officeDocument/2006/relationships/slideLayout" Target="/ppt/slideLayouts/slideLayout3.xml" Id="R3e7f081ad29f4b1f" /><Relationship Type="http://schemas.openxmlformats.org/officeDocument/2006/relationships/slideLayout" Target="/ppt/slideLayouts/slideLayout4.xml" Id="R9619bbb9c2e54362" /><Relationship Type="http://schemas.openxmlformats.org/officeDocument/2006/relationships/slideLayout" Target="/ppt/slideLayouts/slideLayout5.xml" Id="Raca8e794c0194793" /><Relationship Type="http://schemas.openxmlformats.org/officeDocument/2006/relationships/slideLayout" Target="/ppt/slideLayouts/slideLayout6.xml" Id="R275f5bf3eaa74a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7493d7f0b5423d"/>
    <p:sldLayoutId xmlns:r="http://schemas.openxmlformats.org/officeDocument/2006/relationships" id="2147483650" r:id="R328c85617e93455d"/>
    <p:sldLayoutId xmlns:r="http://schemas.openxmlformats.org/officeDocument/2006/relationships" id="2147483651" r:id="R3e7f081ad29f4b1f"/>
    <p:sldLayoutId xmlns:r="http://schemas.openxmlformats.org/officeDocument/2006/relationships" id="2147483652" r:id="R9619bbb9c2e54362"/>
    <p:sldLayoutId xmlns:r="http://schemas.openxmlformats.org/officeDocument/2006/relationships" id="2147483653" r:id="Raca8e794c0194793"/>
    <p:sldLayoutId xmlns:r="http://schemas.openxmlformats.org/officeDocument/2006/relationships" id="2147483654" r:id="R275f5bf3eaa74a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90c01fb1fe4eac" /><Relationship Type="http://schemas.openxmlformats.org/officeDocument/2006/relationships/notesSlide" Target="/ppt/notesSlides/notesSlide1.xml" Id="Rb10b41d5455e42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2e3b2c2ad64914" /><Relationship Type="http://schemas.openxmlformats.org/officeDocument/2006/relationships/image" Target="/ppt/media/image.png" Id="Rc0841741de2e4387" /><Relationship Type="http://schemas.openxmlformats.org/officeDocument/2006/relationships/notesSlide" Target="/ppt/notesSlides/notesSlide2.xml" Id="Re5bf7522b0954a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40511e149a4ab1" /><Relationship Type="http://schemas.openxmlformats.org/officeDocument/2006/relationships/image" Target="/ppt/media/image2.png" Id="Rf770cea00bd646dd" /><Relationship Type="http://schemas.openxmlformats.org/officeDocument/2006/relationships/notesSlide" Target="/ppt/notesSlides/notesSlide3.xml" Id="R277d53a28f394c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d8f43377e04f63" /><Relationship Type="http://schemas.openxmlformats.org/officeDocument/2006/relationships/notesSlide" Target="/ppt/notesSlides/notesSlide4.xml" Id="R128d4448214446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ce1448f2c74f0d" /><Relationship Type="http://schemas.openxmlformats.org/officeDocument/2006/relationships/chart" Target="/ppt/slides/charts/chart1.xml" Id="R8bcd10a1b566463b" /><Relationship Type="http://schemas.openxmlformats.org/officeDocument/2006/relationships/notesSlide" Target="/ppt/notesSlides/notesSlide5.xml" Id="R4cd236bac4f147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b5659ab4444a5a" /><Relationship Type="http://schemas.openxmlformats.org/officeDocument/2006/relationships/image" Target="/ppt/media/image3.png" Id="R7aa9c698999f40a6" /><Relationship Type="http://schemas.openxmlformats.org/officeDocument/2006/relationships/notesSlide" Target="/ppt/notesSlides/notesSlide6.xml" Id="Rb22f8833755d446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 (°C)</c:v>
          </c:tx>
          <c:spPr>
            <a:solidFill xmlns:a="http://schemas.openxmlformats.org/drawingml/2006/main">
              <a:srgbClr val="167D91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Persistence</c:v>
                </c:pt>
                <c:pt idx="1">
                  <c:v>Random forest</c:v>
                </c:pt>
                <c:pt idx="2">
                  <c:v>Seasonal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0.2228</c:v>
                </c:pt>
                <c:pt idx="1">
                  <c:v>0.235</c:v>
                </c:pt>
                <c:pt idx="2">
                  <c:v>0.5656</c:v>
                </c:pt>
              </c:numCache>
            </c:numRef>
          </c:val>
        </c:ser>
        <c:dLbls>
          <c:numFmt formatCode="0.0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9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BA9921-F9CB-4DD6-BE19-6542A734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952500"/>
            <a:ext cx="6477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80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80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West Hawaiʻi</a:t>
            </a:r>
          </a:p>
          <a:p xmlns:a="http://schemas.openxmlformats.org/drawingml/2006/main">
            <a:pPr>
              <a:buNone/>
              <a:defRPr sz="480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Heat Stress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5067D9-B9FF-49DE-8E36-82A6B335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43250"/>
            <a:ext cx="6191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Satellite exposure, underwater temperatures,</a:t>
            </a:r>
          </a:p>
          <a:p xmlns:a="http://schemas.openxmlformats.org/drawingml/2006/main">
            <a:pPr>
              <a:buNone/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and a seven-day forecasting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CF408D-B4F6-43BE-A887-34F9A3A7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81625"/>
            <a:ext cx="647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7D91"/>
                </a:solidFill>
                <a:latin typeface="Arial"/>
                <a:ea typeface="Arial"/>
                <a:cs typeface="Arial"/>
              </a:rPr>
              <a:t>Drew Baker</a:t>
            </a:r>
          </a:p>
          <a:p xmlns:a="http://schemas.openxmlformats.org/drawingml/2006/main">
            <a:pPr>
              <a:buNone/>
              <a:defRPr sz="1875" b="0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7D91"/>
                </a:solidFill>
                <a:latin typeface="Arial"/>
                <a:ea typeface="Arial"/>
                <a:cs typeface="Arial"/>
              </a:rPr>
              <a:t>ASM54000, October 2026</a:t>
            </a:r>
          </a:p>
        </p:txBody>
      </p:sp>
    </p:spTree>
    <p:extLst>
      <p:ext uri="{BB962C8B-B14F-4D97-AF65-F5344CB8AC3E}">
        <p14:creationId xmlns:p14="http://schemas.microsoft.com/office/powerpoint/2010/main" val="4116060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39B425-23A5-47C3-BF5C-B0E4DBEA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114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Study area and analytical approach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71451-0659-446B-8DA9-60C51121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Regional heat exposure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E5B070-3062-43C0-992D-BA1A0D57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504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Match 2015 and 2019 satellite cells. Overlay mapped reef and hardbottom habitat.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5FFC4F-309A-421A-978B-117E6D63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0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Underwater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526435-B7EE-45BD-9D7E-10C21AAB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5048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Match complete nighttime logger records to daily satellite observations.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0EB112-3919-407B-99EB-11198E9D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Forecast 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CF91C-A2D8-40BA-B07A-9FE52BD5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Compare a random forest with persistence and seasonal averages at three cells.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99A49-C722-40A7-AD9C-67FE8B7936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841741de2e4387"/>
          <a:stretch xmlns:a="http://schemas.openxmlformats.org/drawingml/2006/main"/>
        </p:blipFill>
        <p:spPr>
          <a:xfrm xmlns:a="http://schemas.openxmlformats.org/drawingml/2006/main">
            <a:off x="6238875" y="1664710"/>
            <a:ext cx="5429250" cy="419533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9205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F4BA8-4DD5-409C-AA71-CDAD478D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114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2015 had greater accumulated heat stress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4F657C-FD05-4D04-9809-2629AAE9AA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70cea00bd646dd"/>
          <a:stretch xmlns:a="http://schemas.openxmlformats.org/drawingml/2006/main"/>
        </p:blipFill>
        <p:spPr>
          <a:xfrm xmlns:a="http://schemas.openxmlformats.org/drawingml/2006/main">
            <a:off x="815228" y="1333500"/>
            <a:ext cx="6656294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16BE57-B410-4F9D-A889-91B651E2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24000"/>
            <a:ext cx="328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Median peak DHW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56D46-D322-412E-A7DA-A9EE3E84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47875"/>
            <a:ext cx="3286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11.64 in 2015</a:t>
            </a:r>
          </a:p>
          <a:p xmlns:a="http://schemas.openxmlformats.org/drawingml/2006/main">
            <a:pPr>
              <a:buNone/>
              <a:defRPr sz="21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10.39 in 2019</a:t>
            </a:r>
          </a:p>
          <a:p xmlns:a="http://schemas.openxmlformats.org/drawingml/2006/main">
            <a:pPr>
              <a:buNone/>
              <a:defRPr sz="21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°C-weeks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A54D0-B307-42AE-8EC4-9961B18E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571875"/>
            <a:ext cx="328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Reef area reaching DHW ≥8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566CB9-C51C-4CEF-8F64-46166139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7675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4,731 ha in 2015</a:t>
            </a:r>
          </a:p>
          <a:p xmlns:a="http://schemas.openxmlformats.org/drawingml/2006/main">
            <a:pPr>
              <a:buNone/>
              <a:defRPr sz="21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3,612 ha in 2019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B54E4A-7D04-4A90-A1DD-695A7DA4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667375"/>
            <a:ext cx="3286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971 ha of mapped habitat lacked valid satellite DHW.</a:t>
            </a:r>
          </a:p>
        </p:txBody>
      </p:sp>
    </p:spTree>
    <p:extLst>
      <p:ext uri="{BB962C8B-B14F-4D97-AF65-F5344CB8AC3E}">
        <p14:creationId xmlns:p14="http://schemas.microsoft.com/office/powerpoint/2010/main" val="10487820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45A11-A797-4C20-81E8-54686694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114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Satellite and underwater temperatures differ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CF5144-0BB2-49B9-946B-9F7EF1C9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August–November RMSD (°C)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87267C-7C89-45CD-9BA4-3EFB3BFA4F9A}"/>
              </a:ext>
            </a:extLst>
          </p:cNvPr>
          <p:cNvGraphicFramePr/>
          <p:nvPr/>
        </p:nvGraphicFramePr>
        <p:xfrm>
          <a:off xmlns:a="http://schemas.openxmlformats.org/drawingml/2006/main" x="571500" y="2143125"/>
          <a:ext xmlns:a="http://schemas.openxmlformats.org/drawingml/2006/main" cx="106680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05500"/>
                <a:gridCol w="2381250"/>
                <a:gridCol w="2381250"/>
              </a:tblGrid>
              <a:tr h="6191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Monitoring site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5"/>
                      </a:solidFill>
                      <a:prstDash val="solid"/>
                    </a:lnL>
                    <a:lnR w="9525">
                      <a:solidFill>
                        <a:srgbClr val="D9E1E5"/>
                      </a:solidFill>
                      <a:prstDash val="solid"/>
                    </a:lnR>
                    <a:lnT w="9525">
                      <a:solidFill>
                        <a:srgbClr val="D9E1E5"/>
                      </a:solidFill>
                      <a:prstDash val="solid"/>
                    </a:lnT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152F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2015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5"/>
                      </a:solidFill>
                      <a:prstDash val="solid"/>
                    </a:lnR>
                    <a:lnT w="9525">
                      <a:solidFill>
                        <a:srgbClr val="D9E1E5"/>
                      </a:solidFill>
                      <a:prstDash val="solid"/>
                    </a:lnT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152F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2019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5"/>
                      </a:solidFill>
                      <a:prstDash val="solid"/>
                    </a:lnR>
                    <a:lnT w="9525">
                      <a:solidFill>
                        <a:srgbClr val="D9E1E5"/>
                      </a:solidFill>
                      <a:prstDash val="solid"/>
                    </a:lnT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152F4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C49"/>
                          </a:solidFill>
                          <a:latin typeface="Arial"/>
                          <a:ea typeface="Arial"/>
                          <a:cs typeface="Arial"/>
                        </a:rPr>
                        <a:t>OCC-HAW-001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5"/>
                      </a:solidFill>
                      <a:prstDash val="solid"/>
                    </a:lnL>
                    <a:lnR w="9525">
                      <a:solidFill>
                        <a:srgbClr val="D9E1E5"/>
                      </a:solidFill>
                      <a:prstDash val="solid"/>
                    </a:lnR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C49"/>
                          </a:solidFill>
                          <a:latin typeface="Arial"/>
                          <a:ea typeface="Arial"/>
                          <a:cs typeface="Arial"/>
                        </a:rPr>
                        <a:t>0.741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5"/>
                      </a:solidFill>
                      <a:prstDash val="solid"/>
                    </a:lnR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C49"/>
                          </a:solidFill>
                          <a:latin typeface="Arial"/>
                          <a:ea typeface="Arial"/>
                          <a:cs typeface="Arial"/>
                        </a:rPr>
                        <a:t>0.334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5"/>
                      </a:solidFill>
                      <a:prstDash val="solid"/>
                    </a:lnR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C49"/>
                          </a:solidFill>
                          <a:latin typeface="Arial"/>
                          <a:ea typeface="Arial"/>
                          <a:cs typeface="Arial"/>
                        </a:rPr>
                        <a:t>OCC-HAW-002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5"/>
                      </a:solidFill>
                      <a:prstDash val="solid"/>
                    </a:lnL>
                    <a:lnR w="9525">
                      <a:solidFill>
                        <a:srgbClr val="D9E1E5"/>
                      </a:solidFill>
                      <a:prstDash val="solid"/>
                    </a:lnR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C49"/>
                          </a:solidFill>
                          <a:latin typeface="Arial"/>
                          <a:ea typeface="Arial"/>
                          <a:cs typeface="Arial"/>
                        </a:rPr>
                        <a:t>0.566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5"/>
                      </a:solidFill>
                      <a:prstDash val="solid"/>
                    </a:lnR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C49"/>
                          </a:solidFill>
                          <a:latin typeface="Arial"/>
                          <a:ea typeface="Arial"/>
                          <a:cs typeface="Arial"/>
                        </a:rPr>
                        <a:t>0.290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5"/>
                      </a:solidFill>
                      <a:prstDash val="solid"/>
                    </a:lnR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C49"/>
                          </a:solidFill>
                          <a:latin typeface="Arial"/>
                          <a:ea typeface="Arial"/>
                          <a:cs typeface="Arial"/>
                        </a:rPr>
                        <a:t>OCC-HAW-009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5"/>
                      </a:solidFill>
                      <a:prstDash val="solid"/>
                    </a:lnL>
                    <a:lnR w="9525">
                      <a:solidFill>
                        <a:srgbClr val="D9E1E5"/>
                      </a:solidFill>
                      <a:prstDash val="solid"/>
                    </a:lnR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C49"/>
                          </a:solidFill>
                          <a:latin typeface="Arial"/>
                          <a:ea typeface="Arial"/>
                          <a:cs typeface="Arial"/>
                        </a:rPr>
                        <a:t>0.317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5"/>
                      </a:solidFill>
                      <a:prstDash val="solid"/>
                    </a:lnR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C49"/>
                          </a:solidFill>
                          <a:latin typeface="Arial"/>
                          <a:ea typeface="Arial"/>
                          <a:cs typeface="Arial"/>
                        </a:rPr>
                        <a:t>0.210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5"/>
                      </a:solidFill>
                      <a:prstDash val="solid"/>
                    </a:lnR>
                    <a:lnB w="9525">
                      <a:solidFill>
                        <a:srgbClr val="D9E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9A55ED-079F-4018-AD49-B44632CE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Satellite and nighttime logger temperatures agreed more closely in 2019 at these sites.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8FEA0-3478-4DB9-BC6C-A7241A27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Each comparison uses 122 complete nights per site and year.</a:t>
            </a:r>
          </a:p>
        </p:txBody>
      </p:sp>
    </p:spTree>
    <p:extLst>
      <p:ext uri="{BB962C8B-B14F-4D97-AF65-F5344CB8AC3E}">
        <p14:creationId xmlns:p14="http://schemas.microsoft.com/office/powerpoint/2010/main" val="5865404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F21B1-4044-4F22-9EA3-64D1AA9C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114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Persistence wins the forecast test overall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D8DF71EE-46D0-42E2-804F-F1DA68852718}"/>
              </a:ext>
            </a:extLst>
          </p:cNvPr>
          <p:cNvGraphicFramePr/>
          <p:nvPr/>
        </p:nvGraphicFramePr>
        <p:xfrm>
          <a:off xmlns:a="http://schemas.openxmlformats.org/drawingml/2006/main" x="571500" y="1619250"/>
          <a:ext xmlns:a="http://schemas.openxmlformats.org/drawingml/2006/main" cx="6858000" cy="4381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cd10a1b566463b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E2CE2-82E2-4F94-A53A-CB242A83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Seven-day SST forecast MAE (°C)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7B7CF-6415-4110-B9A3-2850828E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80975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Held-out 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4B670-CB0C-49F1-999B-3BCBF143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76500"/>
            <a:ext cx="347662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2015–2025</a:t>
            </a:r>
          </a:p>
          <a:p xmlns:a="http://schemas.openxmlformats.org/drawingml/2006/main">
            <a:pPr>
              <a:buNone/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11,754 forecasts</a:t>
            </a:r>
          </a:p>
          <a:p xmlns:a="http://schemas.openxmlformats.org/drawingml/2006/main">
            <a:pPr>
              <a:buNone/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3 selected cells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760CD9-D380-4482-ABB5-1D97DD1C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238625"/>
            <a:ext cx="34766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RF skill varied by cell and year. Strong heat-stress years exposed larger forecast errors.</a:t>
            </a:r>
          </a:p>
        </p:txBody>
      </p:sp>
    </p:spTree>
    <p:extLst>
      <p:ext uri="{BB962C8B-B14F-4D97-AF65-F5344CB8AC3E}">
        <p14:creationId xmlns:p14="http://schemas.microsoft.com/office/powerpoint/2010/main" val="2784499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5012E-6CB7-4D58-A5DE-7349D3A5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114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What the results support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5676ED-8826-4AFB-B7B3-0E89A667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6286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Heat duration matters alongside temperature. The 2015–2019 contrast depends on the metric.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320579-E9E0-4A7A-8E63-F59E62DE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6286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Local loggers show how satellite and underwater temperatures vary by site and season.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2B89E-050F-41F7-92F8-060BC926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628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A simple baseline remains essential. Future work could test anomaly-focused models and transfer to Florida.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64F22-5A70-4421-8FD6-39ECCD27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7D91"/>
                </a:solidFill>
                <a:latin typeface="Arial"/>
                <a:ea typeface="Arial"/>
                <a:cs typeface="Arial"/>
              </a:rPr>
              <a:t>Process log and Python notebook</a:t>
            </a:r>
          </a:p>
          <a:p xmlns:a="http://schemas.openxmlformats.org/drawingml/2006/main">
            <a:pPr>
              <a:buNone/>
              <a:defRPr sz="1800" b="0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7D91"/>
                </a:solidFill>
                <a:latin typeface="Arial"/>
                <a:ea typeface="Arial"/>
                <a:cs typeface="Arial"/>
              </a:rPr>
              <a:t>github.com/drwbkr1/West-Hawaii-Heat-Stress-ASM540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3C171-5F41-458F-BF43-3FE5C49BBE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9c698999f40a6"/>
          <a:stretch xmlns:a="http://schemas.openxmlformats.org/drawingml/2006/main"/>
        </p:blipFill>
        <p:spPr>
          <a:xfrm xmlns:a="http://schemas.openxmlformats.org/drawingml/2006/main">
            <a:off x="7334250" y="1706923"/>
            <a:ext cx="4333875" cy="334890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1420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2026-10-17T16:30:27.3420000Z</dcterms:created>
  <dcterms:modified xsi:type="dcterms:W3CDTF">2026-10-17T16:30:27.3430000Z</dcterms:modified>
</coreProperties>
</file>