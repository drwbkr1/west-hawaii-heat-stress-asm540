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67b6811d304fb6" /><Relationship Type="http://schemas.openxmlformats.org/officeDocument/2006/relationships/extended-properties" Target="/docProps/app.xml" Id="R5b25bae59fe34b84" /><Relationship Type="http://schemas.openxmlformats.org/officeDocument/2006/relationships/officeDocument" Target="/ppt/presentation.xml" Id="Re682590760c24ea4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2c63b5caac45f6"/>
  </p:sldMasterIdLst>
  <p:sldIdLst>
    <p:sldId id="256" r:id="R518aee93a5a24d76"/>
    <p:sldId id="257" r:id="R0fbbc83541a14e6b"/>
    <p:sldId id="258" r:id="R049e8d679d3a4a1b"/>
    <p:sldId id="259" r:id="R831479eccf3848ff"/>
    <p:sldId id="260" r:id="Rf29660fa043742f8"/>
    <p:sldId id="261" r:id="R26ee96f621124dc0"/>
    <p:sldId id="262" r:id="R38809290cf4b4c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fee292ef2ad2409a" /><Relationship Type="http://schemas.openxmlformats.org/officeDocument/2006/relationships/slideMaster" Target="/ppt/slideMasters/slideMaster1.xml" Id="R2d2c63b5caac45f6" /><Relationship Type="http://schemas.openxmlformats.org/officeDocument/2006/relationships/presProps" Target="/ppt/presProps.xml" Id="R577a3f97b3e14383" /><Relationship Type="http://schemas.openxmlformats.org/officeDocument/2006/relationships/tableStyles" Target="/ppt/tableStyles.xml" Id="R68597203cb164ab3" /><Relationship Type="http://schemas.openxmlformats.org/officeDocument/2006/relationships/slide" Target="/ppt/slides/slide1.xml" Id="R518aee93a5a24d76" /><Relationship Type="http://schemas.openxmlformats.org/officeDocument/2006/relationships/slide" Target="/ppt/slides/slide2.xml" Id="R0fbbc83541a14e6b" /><Relationship Type="http://schemas.openxmlformats.org/officeDocument/2006/relationships/slide" Target="/ppt/slides/slide3.xml" Id="R049e8d679d3a4a1b" /><Relationship Type="http://schemas.openxmlformats.org/officeDocument/2006/relationships/slide" Target="/ppt/slides/slide4.xml" Id="R831479eccf3848ff" /><Relationship Type="http://schemas.openxmlformats.org/officeDocument/2006/relationships/slide" Target="/ppt/slides/slide5.xml" Id="Rf29660fa043742f8" /><Relationship Type="http://schemas.openxmlformats.org/officeDocument/2006/relationships/slide" Target="/ppt/slides/slide6.xml" Id="R26ee96f621124dc0" /><Relationship Type="http://schemas.openxmlformats.org/officeDocument/2006/relationships/slide" Target="/ppt/slides/slide7.xml" Id="R38809290cf4b4c3e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bd8829035943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3a17a675c1404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bf0eea0ea14f9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c66e6f06f34e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0274e8fa8e46b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0f061b100f4c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607EDFA-AFF9-4825-A062-630CFA76A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A52FB4F-98C5-43B0-A2FB-3A5353EB25C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440D25D-AB5B-45C5-A1E1-54B5D10079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3425D7-9CE7-49CF-8338-7B1D365BD4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737F1F2-9001-41C2-A52A-47B7352F26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FB3157F-E46C-4C5E-95D9-30EB518981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553A83E-834B-452E-9431-1B4A6E35C9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0BB8C57-627E-4C07-BF3E-BBE1C8001C3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AE288D-42B7-4B13-AC7C-0E76261476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2A07F1-A663-49AB-8264-F750329AE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a0b678ca194ec7" /><Relationship Type="http://schemas.openxmlformats.org/officeDocument/2006/relationships/slideLayout" Target="/ppt/slideLayouts/slideLayout1.xml" Id="R6c44b37b32be4dfd" /><Relationship Type="http://schemas.openxmlformats.org/officeDocument/2006/relationships/slideLayout" Target="/ppt/slideLayouts/slideLayout2.xml" Id="R3cb410b0f6144c01" /><Relationship Type="http://schemas.openxmlformats.org/officeDocument/2006/relationships/slideLayout" Target="/ppt/slideLayouts/slideLayout3.xml" Id="Rc3449289e3ed477e" /><Relationship Type="http://schemas.openxmlformats.org/officeDocument/2006/relationships/slideLayout" Target="/ppt/slideLayouts/slideLayout4.xml" Id="Rd80c33eb5863495b" /><Relationship Type="http://schemas.openxmlformats.org/officeDocument/2006/relationships/slideLayout" Target="/ppt/slideLayouts/slideLayout5.xml" Id="R7a04a49f87e54a1a" /><Relationship Type="http://schemas.openxmlformats.org/officeDocument/2006/relationships/slideLayout" Target="/ppt/slideLayouts/slideLayout6.xml" Id="R5fe67b63e5c24d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44b37b32be4dfd"/>
    <p:sldLayoutId xmlns:r="http://schemas.openxmlformats.org/officeDocument/2006/relationships" id="2147483650" r:id="R3cb410b0f6144c01"/>
    <p:sldLayoutId xmlns:r="http://schemas.openxmlformats.org/officeDocument/2006/relationships" id="2147483651" r:id="Rc3449289e3ed477e"/>
    <p:sldLayoutId xmlns:r="http://schemas.openxmlformats.org/officeDocument/2006/relationships" id="2147483652" r:id="Rd80c33eb5863495b"/>
    <p:sldLayoutId xmlns:r="http://schemas.openxmlformats.org/officeDocument/2006/relationships" id="2147483653" r:id="R7a04a49f87e54a1a"/>
    <p:sldLayoutId xmlns:r="http://schemas.openxmlformats.org/officeDocument/2006/relationships" id="2147483654" r:id="R5fe67b63e5c24d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bd09a3ee6924f69" /><Relationship Type="http://schemas.openxmlformats.org/officeDocument/2006/relationships/image" Target="/ppt/media/image.jpeg" Id="R573f00f4a6d9498f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c427e3fcd284376" /><Relationship Type="http://schemas.openxmlformats.org/officeDocument/2006/relationships/image" Target="/ppt/media/image.png" Id="R2b0ba315ee2348e1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2ed165473bd41c6" /><Relationship Type="http://schemas.openxmlformats.org/officeDocument/2006/relationships/image" Target="/ppt/media/image2.png" Id="Rc0606fd18ce34baf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6795dd9548143bf" /><Relationship Type="http://schemas.openxmlformats.org/officeDocument/2006/relationships/image" Target="/ppt/media/image3.png" Id="R7930e5eae2e64d04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6b3edc3a65e4f71" /><Relationship Type="http://schemas.openxmlformats.org/officeDocument/2006/relationships/chart" Target="/ppt/slides/charts/chart1.xml" Id="Rd4c94572ae7945b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0c7f662250d4498" /><Relationship Type="http://schemas.openxmlformats.org/officeDocument/2006/relationships/image" Target="/ppt/media/image.gif" Id="Re27c7f1c35844190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a0c2756ca294bb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 (°C)</c:v>
          </c:tx>
          <c:spPr>
            <a:solidFill xmlns:a="http://schemas.openxmlformats.org/drawingml/2006/main">
              <a:srgbClr val="167D91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Persistence</c:v>
                </c:pt>
                <c:pt idx="1">
                  <c:v>Random forest</c:v>
                </c:pt>
                <c:pt idx="2">
                  <c:v>Seasonal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0.2228</c:v>
                </c:pt>
                <c:pt idx="1">
                  <c:v>0.235</c:v>
                </c:pt>
                <c:pt idx="2">
                  <c:v>0.5656</c:v>
                </c:pt>
              </c:numCache>
            </c:numRef>
          </c:val>
        </c:ser>
        <c:dLbls>
          <c:numFmt formatCode="0.0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9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D5957E-6C66-49CA-9EF9-02F5BC42E4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3f00f4a6d9498f"/>
          <a:srcRect xmlns:a="http://schemas.openxmlformats.org/drawingml/2006/main" l="0" t="12500" r="0" b="350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Floating introduction panel">
            <a:extLst xmlns:a="http://schemas.openxmlformats.org/drawingml/2006/main">
              <a:ext uri="{FF2B5EF4-FFF2-40B4-BE49-F238E27FC236}">
                <a16:creationId xmlns:a16="http://schemas.microsoft.com/office/drawing/2014/main" id="{21B3470F-7012-406A-A887-DFDE0CFB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04925"/>
            <a:ext cx="49530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C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80D7F-4349-4C24-8EB8-74AD3155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333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West Hawaiʻi</a:t>
            </a:r>
          </a:p>
          <a:p xmlns:a="http://schemas.openxmlformats.org/drawingml/2006/main">
            <a:pPr>
              <a:defRPr sz="43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Heat Stress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D8CF6-0394-4B9A-90F1-14CC3B49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24250"/>
            <a:ext cx="428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Comparing and forecasting from</a:t>
            </a:r>
          </a:p>
          <a:p xmlns:a="http://schemas.openxmlformats.org/drawingml/2006/main">
            <a: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the 2015 and 2019</a:t>
            </a:r>
          </a:p>
          <a:p xmlns:a="http://schemas.openxmlformats.org/drawingml/2006/main">
            <a: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heating anomalies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1E6CA2-629E-4B57-831D-3C5C8198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24450"/>
            <a:ext cx="428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7D91"/>
                </a:solidFill>
                <a:latin typeface="Arial"/>
                <a:ea typeface="Arial"/>
                <a:cs typeface="Arial"/>
              </a:rPr>
              <a:t>Drew Baker</a:t>
            </a:r>
          </a:p>
          <a:p xmlns:a="http://schemas.openxmlformats.org/drawingml/2006/main">
            <a:pPr>
              <a:defRPr sz="1875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7D91"/>
                </a:solidFill>
                <a:latin typeface="Arial"/>
                <a:ea typeface="Arial"/>
                <a:cs typeface="Arial"/>
              </a:rPr>
              <a:t>ASM54000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4A4FC-E0A7-4135-9961-733EC3D6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6572250"/>
            <a:ext cx="1171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Basemap: Esri, HERE, Garmin, USGS, METI/NASA, NGA, EPA, USDA. Data: NOAA.</a:t>
            </a:r>
          </a:p>
        </p:txBody>
      </p:sp>
    </p:spTree>
    <p:extLst>
      <p:ext uri="{BB962C8B-B14F-4D97-AF65-F5344CB8AC3E}">
        <p14:creationId xmlns:p14="http://schemas.microsoft.com/office/powerpoint/2010/main" val="4116060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39B425-23A5-47C3-BF5C-B0E4DBEA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Study area and project questions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F57EA-385A-44E2-8315-D7569F425F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ba315ee2348e1"/>
          <a:stretch xmlns:a="http://schemas.openxmlformats.org/drawingml/2006/main"/>
        </p:blipFill>
        <p:spPr>
          <a:xfrm xmlns:a="http://schemas.openxmlformats.org/drawingml/2006/main">
            <a:off x="6619875" y="1714500"/>
            <a:ext cx="5095875" cy="43338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6D1C9-C8F8-4A35-8631-8A9C5C0A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5810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Study area: West Hawaiʻi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748C93-CE5C-489F-AD8E-3CA6D028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AOI: the west coast of Hawaiʻi Island, 18.90–20.30° N and 156.10–155.65° W. Satellite grid: 0.05° (about 5 km).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CC69A-0A81-4AF9-8E1D-DC71443E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9375"/>
            <a:ext cx="5810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Q1: Which year had more heat stress?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8A5E01-D607-46B4-A82D-8AA59964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38475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Compare Degree Heating Weeks (DHW) in 2015 and 2019 and map exposed reef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173C50-5C72-45D5-9FF6-6C15F441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5810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Q2: Do satellite and logger SST agree?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D2EDC-6868-451B-89DF-45A2369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Compare satellite sea surface temperature (SST) with loggers using bias and root mean square difference (RMSD).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A46B54-0109-48B0-AD75-2D5ABF8A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810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Q3: Can RF beat simple SST forecasts?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C4D699-57B2-42AC-BBEF-4401C5AB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Random forest learns from past SST and seasonal patterns. Benchmarks use today’s SST (persistence) and historical seasonal averages.</a:t>
            </a:r>
          </a:p>
        </p:txBody>
      </p:sp>
    </p:spTree>
    <p:extLst>
      <p:ext uri="{BB962C8B-B14F-4D97-AF65-F5344CB8AC3E}">
        <p14:creationId xmlns:p14="http://schemas.microsoft.com/office/powerpoint/2010/main" val="20209205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F4BA8-4DD5-409C-AA71-CDAD478D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2015 had greater accumulated heat stress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15DD2-996E-44B0-8F58-719729B256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606fd18ce34baf"/>
          <a:stretch xmlns:a="http://schemas.openxmlformats.org/drawingml/2006/main"/>
        </p:blipFill>
        <p:spPr>
          <a:xfrm xmlns:a="http://schemas.openxmlformats.org/drawingml/2006/main">
            <a:off x="333375" y="1333500"/>
            <a:ext cx="6810375" cy="50958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86C9A-02FA-4697-B203-76580071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7637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Project, clip, and intersect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B1BF4-21C6-4EED-B7A1-0550F526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33575"/>
            <a:ext cx="4191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Create a 0.05° fishnet and project to UTM 5N. Clip habitat to the AOI, intersect with the grid, and calculate reef hectares.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9E3A45-18F7-425C-AEAC-E433788C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8612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Summarize and join DHW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879499-DB44-4D41-98D5-3354408E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43325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Summarize daily DHW by cell and year. Join peak DHW and threshold-day totals to the grid and reef pieces.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F4BBCF-5421-43B6-88FE-F96EB027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530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Compare the two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502F0-3690-48A8-AECB-59466419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10200"/>
            <a:ext cx="419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Median peak DHW: 11.64 vs. 10.39 °C-weeks. Reef area at DHW ≥8: 4,731 vs. 3,612 ha.</a:t>
            </a:r>
          </a:p>
        </p:txBody>
      </p:sp>
    </p:spTree>
    <p:extLst>
      <p:ext uri="{BB962C8B-B14F-4D97-AF65-F5344CB8AC3E}">
        <p14:creationId xmlns:p14="http://schemas.microsoft.com/office/powerpoint/2010/main" val="10487820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45A11-A797-4C20-81E8-54686694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Satellite and underwater temperatures differ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48686-5EF3-4D5F-B0B4-5FC91D8663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0e5eae2e64d04"/>
          <a:stretch xmlns:a="http://schemas.openxmlformats.org/drawingml/2006/main"/>
        </p:blipFill>
        <p:spPr>
          <a:xfrm xmlns:a="http://schemas.openxmlformats.org/drawingml/2006/main">
            <a:off x="381000" y="1474509"/>
            <a:ext cx="11430000" cy="195635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9E1808-7FEE-4EA4-A163-BC96EF2F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287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XY points and spatial matching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BE02CD-E501-4A68-9340-F16C3CCF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29125"/>
            <a:ext cx="5238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Create WGS84 points from logger coordinates with XY Table To Point. Spatial Join deployments to CRW cells, then join cell keys to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1450A2-2CED-495F-ACFB-67A9FE8C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5287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Time matching and statistics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88A3A-A0CF-4490-AB94-97A79C85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29125"/>
            <a:ext cx="5238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Average complete 00:00–06:00 HST nights. Join satellite SST by cell and date. Summarize bias and RMSD by site, depth, year, and season.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F0C562-1093-45F0-8E1D-7FFFF418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7D91"/>
                </a:solidFill>
                <a:latin typeface="Arial"/>
                <a:ea typeface="Arial"/>
                <a:cs typeface="Arial"/>
              </a:rPr>
              <a:t>RMSD measures temperature mismatch in °C, giving larger differences more weight. Lower values mean closer agreement.</a:t>
            </a:r>
          </a:p>
        </p:txBody>
      </p:sp>
    </p:spTree>
    <p:extLst>
      <p:ext uri="{BB962C8B-B14F-4D97-AF65-F5344CB8AC3E}">
        <p14:creationId xmlns:p14="http://schemas.microsoft.com/office/powerpoint/2010/main" val="5865404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F21B1-4044-4F22-9EA3-64D1AA9C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Persistence wins the forecast test overall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AB8BF462-8073-47A2-823B-52BD7F6EC500}"/>
              </a:ext>
            </a:extLst>
          </p:cNvPr>
          <p:cNvGraphicFramePr/>
          <p:nvPr/>
        </p:nvGraphicFramePr>
        <p:xfrm>
          <a:off xmlns:a="http://schemas.openxmlformats.org/drawingml/2006/main" x="571500" y="1619250"/>
          <a:ext xmlns:a="http://schemas.openxmlformats.org/drawingml/2006/main" cx="6858000" cy="4381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c94572ae7945b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6F01F1-C75D-4C4D-89FC-F358243B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685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Held-out test MAE (°C), 2015–2025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4F5791-7AB8-4192-8F57-62401331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76375"/>
            <a:ext cx="3714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Train: 2003–2013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0A416-D895-4844-8E4B-423A4E73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3714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11,949 examples. Fit RF candidates using past SST, season, and cell.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646752-08D1-421A-BCED-E5F13EF7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3714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Validate: 2014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442B3-3D81-4462-BE68-56FDF3B8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24250"/>
            <a:ext cx="3714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1,074 forecasts. Optimal parameters: depth 16 and minimum leaf size 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9ABD79-770D-47E0-906C-01FE03D0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714875"/>
            <a:ext cx="3714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Refit, then test: 2015–2025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641D33-640B-4238-82DC-EE23FABF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191125"/>
            <a:ext cx="3714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Refit through 2014. Test 11,754 forecasts across three cells.</a:t>
            </a:r>
          </a:p>
          <a:p xmlns:a="http://schemas.openxmlformats.org/drawingml/2006/main">
            <a:pPr>
              <a:defRPr sz="187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Test MAE (°C): RF 0.2350, persistence 0.2228, seasonal 0.5656.</a:t>
            </a:r>
          </a:p>
        </p:txBody>
      </p:sp>
    </p:spTree>
    <p:extLst>
      <p:ext uri="{BB962C8B-B14F-4D97-AF65-F5344CB8AC3E}">
        <p14:creationId xmlns:p14="http://schemas.microsoft.com/office/powerpoint/2010/main" val="2784499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5012E-6CB7-4D58-A5DE-7349D3A5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Heat anomalies expose larger RF errors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FD30B4-D74C-43EA-8F03-E38B757C16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c7f1c35844190"/>
          <a:stretch xmlns:a="http://schemas.openxmlformats.org/drawingml/2006/main"/>
        </p:blipFill>
        <p:spPr>
          <a:xfrm xmlns:a="http://schemas.openxmlformats.org/drawingml/2006/main">
            <a:off x="491658" y="1257300"/>
            <a:ext cx="6779559" cy="5238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81A942-C31C-4689-BCEF-F4933F08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381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Lower stress: DHW &lt;4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812F3-B432-4175-9E1D-37FB3426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19300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RF MAE: 0.2214°C</a:t>
            </a:r>
          </a:p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Persistence: 0.2209°C</a:t>
            </a:r>
          </a:p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Nearly identical errors</a:t>
            </a:r>
          </a:p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11,168 forecasts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225F96-C3B7-4A28-AAE6-64A9C3B4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67125"/>
            <a:ext cx="381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High stress: DHW ≥8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D1D34-41EE-49C0-A1C6-12448668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6242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RF MAE: 0.4594°C</a:t>
            </a:r>
          </a:p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Persistence: 0.2779°C</a:t>
            </a:r>
          </a:p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RF error is about 65% higher</a:t>
            </a:r>
          </a:p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327 forecasts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F35F1A-6A5F-4446-B64E-8F899DAB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762625"/>
            <a:ext cx="3810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RF handles lower-stress conditions well. Hotter extremes bring larger errors.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3C4DD7-1346-4BC3-AE1E-02EDC073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263C49"/>
                </a:solidFill>
                <a:latin typeface="Arial"/>
                <a:ea typeface="Arial"/>
                <a:cs typeface="Arial"/>
              </a:rPr>
              <a:t>Error statistics pool all three cells. Animation shows the two southern cells, 2015–2025.</a:t>
            </a:r>
          </a:p>
        </p:txBody>
      </p:sp>
    </p:spTree>
    <p:extLst>
      <p:ext uri="{BB962C8B-B14F-4D97-AF65-F5344CB8AC3E}">
        <p14:creationId xmlns:p14="http://schemas.microsoft.com/office/powerpoint/2010/main" val="7901420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14C6F-10FD-4BB2-A4AB-5FE929E4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114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2F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2F45"/>
                </a:solidFill>
                <a:latin typeface="Arial"/>
                <a:ea typeface="Arial"/>
                <a:cs typeface="Arial"/>
              </a:rPr>
              <a:t>Conclusions and further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16D9DD-F98F-47D5-AC5E-1F49558E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Conclusions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A0CDE-B06E-457A-9237-650D2E28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2015 carried more accumulated heat stress. Late-season satellite–logger agreement was closer in 2019 than in 2015. Persistence remained the strongest overall forecast benchmark.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F09C6-E5D6-41F5-A0F2-A31D0B2D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Further study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CB3D0-FABB-4648-AE08-E64288F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43325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Test models designed for heat anomalies and use rolling validation across hot years. Add predictors for ocean conditions, more logger sites, and newer habitat maps to improve local comparisons.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DEC07-0F60-430D-9880-5C98ADAB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67D9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7D91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5F3E4-158A-40B7-85CA-391BD198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4355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NOAA Coral Reef Watch / PacIOOS. Satellite SST and DHW.</a:t>
            </a:r>
          </a:p>
          <a:p xmlns:a="http://schemas.openxmlformats.org/drawingml/2006/main">
            <a:pPr>
              <a:defRPr sz="172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NOAA NCEI. Hawaiʻi underwater temperature records.</a:t>
            </a:r>
          </a:p>
          <a:p xmlns:a="http://schemas.openxmlformats.org/drawingml/2006/main">
            <a:pPr>
              <a:defRPr sz="1725" b="0">
                <a:solidFill>
                  <a:srgbClr val="263C4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63C49"/>
                </a:solidFill>
                <a:latin typeface="Arial"/>
                <a:ea typeface="Arial"/>
                <a:cs typeface="Arial"/>
              </a:rPr>
              <a:t>NOAA NCCOS. 2007 Hawaiʻi benthic habitat maps.</a:t>
            </a:r>
          </a:p>
        </p:txBody>
      </p:sp>
    </p:spTree>
    <p:extLst>
      <p:ext uri="{BB962C8B-B14F-4D97-AF65-F5344CB8AC3E}">
        <p14:creationId xmlns:p14="http://schemas.microsoft.com/office/powerpoint/2010/main" val="6402817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0</ns0:Slides>
  <ns0:Notes>0</ns0:Notes>
  <ns0:HiddenSlides>0</ns0:HiddenSlides>
  <ns0:SharedDoc>false</ns0:SharedDoc>
  <ns0:DocSecurity>0</ns0:DocSecurity>
</ns0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2026-10-17T17:58:46.6440000Z</dcterms:created>
  <dcterms:modified xsi:type="dcterms:W3CDTF">2026-10-17T17:58:46.6440000Z</dcterms:modified>
</coreProperties>
</file>