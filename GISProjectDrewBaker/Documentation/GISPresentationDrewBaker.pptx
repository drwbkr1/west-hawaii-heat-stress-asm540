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4e6603ed4794d92" /><Relationship Type="http://schemas.openxmlformats.org/officeDocument/2006/relationships/extended-properties" Target="/docProps/app.xml" Id="Rf3a8da5a25134b61" /><Relationship Type="http://schemas.openxmlformats.org/officeDocument/2006/relationships/officeDocument" Target="/ppt/presentation.xml" Id="Rdf8967ba87b74ec7" /></Relationships>
</file>

<file path=ppt/presentation.xml><?xml version="1.0" encoding="utf-8"?>
<p:presentation xmlns:p="http://schemas.openxmlformats.org/presentationml/2006/main">
  <p:sldMasterIdLst>
    <p:sldMasterId xmlns:r="http://schemas.openxmlformats.org/officeDocument/2006/relationships" id="2147483648" r:id="Rfc828deb8b7b46c0"/>
  </p:sldMasterIdLst>
  <p:notesMasterIdLst>
    <p:notesMasterId xmlns:r="http://schemas.openxmlformats.org/officeDocument/2006/relationships" r:id="Ra4200a17e7a64dd2"/>
  </p:notesMasterIdLst>
  <p:sldIdLst>
    <p:sldId xmlns:r="http://schemas.openxmlformats.org/officeDocument/2006/relationships" id="256" r:id="R68bec8d0de7a4cc9"/>
    <p:sldId xmlns:r="http://schemas.openxmlformats.org/officeDocument/2006/relationships" id="257" r:id="R5947fb1757d44710"/>
    <p:sldId xmlns:r="http://schemas.openxmlformats.org/officeDocument/2006/relationships" id="258" r:id="R31835948fdf04135"/>
    <p:sldId xmlns:r="http://schemas.openxmlformats.org/officeDocument/2006/relationships" id="259" r:id="Rbf26ded268ff45fe"/>
    <p:sldId xmlns:r="http://schemas.openxmlformats.org/officeDocument/2006/relationships" id="260" r:id="R5c5dc02e1db4438c"/>
    <p:sldId xmlns:r="http://schemas.openxmlformats.org/officeDocument/2006/relationships" id="261" r:id="Rce755d129a1a4a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de0ef77f1d4875" /><Relationship Type="http://schemas.openxmlformats.org/officeDocument/2006/relationships/slideMaster" Target="/ppt/slideMasters/slideMaster1.xml" Id="Rfc828deb8b7b46c0" /><Relationship Type="http://schemas.openxmlformats.org/officeDocument/2006/relationships/notesMaster" Target="/ppt/notesMasters/notesMaster1.xml" Id="Ra4200a17e7a64dd2" /><Relationship Type="http://schemas.openxmlformats.org/officeDocument/2006/relationships/presProps" Target="/ppt/presProps.xml" Id="R14d455cd6dec4aa4" /><Relationship Type="http://schemas.openxmlformats.org/officeDocument/2006/relationships/tableStyles" Target="/ppt/tableStyles.xml" Id="R2fe02bca124243d7" /><Relationship Type="http://schemas.openxmlformats.org/officeDocument/2006/relationships/slide" Target="/ppt/slides/slide1.xml" Id="R68bec8d0de7a4cc9" /><Relationship Type="http://schemas.openxmlformats.org/officeDocument/2006/relationships/slide" Target="/ppt/slides/slide2.xml" Id="R5947fb1757d44710" /><Relationship Type="http://schemas.openxmlformats.org/officeDocument/2006/relationships/slide" Target="/ppt/slides/slide3.xml" Id="R31835948fdf04135" /><Relationship Type="http://schemas.openxmlformats.org/officeDocument/2006/relationships/slide" Target="/ppt/slides/slide4.xml" Id="Rbf26ded268ff45fe" /><Relationship Type="http://schemas.openxmlformats.org/officeDocument/2006/relationships/slide" Target="/ppt/slides/slide5.xml" Id="R5c5dc02e1db4438c" /><Relationship Type="http://schemas.openxmlformats.org/officeDocument/2006/relationships/slide" Target="/ppt/slides/slide6.xml" Id="Rce755d129a1a4a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f6c9e98f3041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adb0671dcc4dd3" /><Relationship Type="http://schemas.openxmlformats.org/officeDocument/2006/relationships/notesMaster" Target="/ppt/notesMasters/notesMaster1.xml" Id="R040f7142721147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b800323c4f4232" /><Relationship Type="http://schemas.openxmlformats.org/officeDocument/2006/relationships/notesMaster" Target="/ppt/notesMasters/notesMaster1.xml" Id="Rea542490e46e46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c6b3c3f33d4230" /><Relationship Type="http://schemas.openxmlformats.org/officeDocument/2006/relationships/notesMaster" Target="/ppt/notesMasters/notesMaster1.xml" Id="R93e33b51e0c144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e849491a0f4156" /><Relationship Type="http://schemas.openxmlformats.org/officeDocument/2006/relationships/notesMaster" Target="/ppt/notesMasters/notesMaster1.xml" Id="Rda3b96c75d5046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f170f4621e4fe7" /><Relationship Type="http://schemas.openxmlformats.org/officeDocument/2006/relationships/notesMaster" Target="/ppt/notesMasters/notesMaster1.xml" Id="R425a5d3117cc4a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b6bcbf497042cb" /><Relationship Type="http://schemas.openxmlformats.org/officeDocument/2006/relationships/notesMaster" Target="/ppt/notesMasters/notesMaster1.xml" Id="R112302f51f8d4a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examine how thermal exposure differed between 2015 and 2019, how satellite SST compared with underwater loggers, and whether random forests improved seven-day SST forecasts.</a:t>
            </a:r>
          </a:p>
          <a:p xmlns:a="http://schemas.openxmlformats.org/drawingml/2006/main">
            <a:r>
              <a:t>NOAA Coral Reef Watch via PacIOOS: https://pae-paha.pacioos.hawaii.edu/erddap/griddap/dhw_5km.html</a:t>
            </a:r>
          </a:p>
          <a:p xmlns:a="http://schemas.openxmlformats.org/drawingml/2006/main">
            <a:r>
              <a:t>NOAA NCEI: https://www.ncei.noaa.gov/erddap/tabledap/CRCP_Subsurface_Temp_Hawaii.html</a:t>
            </a:r>
          </a:p>
          <a:p xmlns:a="http://schemas.openxmlformats.org/drawingml/2006/main">
            <a:r>
              <a:t>NOAA NCCOS habitat: https://products.coastalscience.noaa.gov/collections/benthic/e97hawaii/data2007.aspx</a:t>
            </a:r>
          </a:p>
          <a:p xmlns:a="http://schemas.openxmlformats.org/drawingml/2006/main">
            <a:r>
              <a:t>Project results: https://github.com/drwbkr1/West-Hawaii-Heat-Stress-ASM540/tree/main/Analysis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Regional comparisons use 135 paired cells with complete annual DHW coverage. Q2 uses matching January–June and August–November seasonal windows. Q3 uses chronological model development through 2014 and held-out evaluation for 2015–2025.</a:t>
            </a:r>
          </a:p>
          <a:p xmlns:a="http://schemas.openxmlformats.org/drawingml/2006/main">
            <a:r>
              <a:t>NOAA Coral Reef Watch via PacIOOS: https://pae-paha.pacioos.hawaii.edu/erddap/griddap/dhw_5km.html</a:t>
            </a:r>
          </a:p>
          <a:p xmlns:a="http://schemas.openxmlformats.org/drawingml/2006/main">
            <a:r>
              <a:t>NOAA NCEI: https://www.ncei.noaa.gov/erddap/tabledap/CRCP_Subsurface_Temp_Hawaii.html</a:t>
            </a:r>
          </a:p>
          <a:p xmlns:a="http://schemas.openxmlformats.org/drawingml/2006/main">
            <a:r>
              <a:t>NOAA NCCOS habitat: https://products.coastalscience.noaa.gov/collections/benthic/e97hawaii/data2007.aspx</a:t>
            </a:r>
          </a:p>
          <a:p xmlns:a="http://schemas.openxmlformats.org/drawingml/2006/main">
            <a:r>
              <a:t>Project results: https://github.com/drwbkr1/West-Hawaii-Heat-Stress-ASM540/tree/main/Analysis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Median peak DHW uses the 135 paired valid water cells. Habitat area refers to mapped reef and hardbottom. Assessed habitat totals 4,731.23 ha from 5,702.29 ha mapped. Thermal exposure does not measure coral mortality. The higher median annual mean SST in 2019 does not contradict lower accumulated DHW.</a:t>
            </a:r>
          </a:p>
          <a:p xmlns:a="http://schemas.openxmlformats.org/drawingml/2006/main">
            <a:r>
              <a:t>NOAA Coral Reef Watch via PacIOOS: https://pae-paha.pacioos.hawaii.edu/erddap/griddap/dhw_5km.html</a:t>
            </a:r>
          </a:p>
          <a:p xmlns:a="http://schemas.openxmlformats.org/drawingml/2006/main">
            <a:r>
              <a:t>NOAA NCEI: https://www.ncei.noaa.gov/erddap/tabledap/CRCP_Subsurface_Temp_Hawaii.html</a:t>
            </a:r>
          </a:p>
          <a:p xmlns:a="http://schemas.openxmlformats.org/drawingml/2006/main">
            <a:r>
              <a:t>NOAA NCCOS habitat: https://products.coastalscience.noaa.gov/collections/benthic/e97hawaii/data2007.aspx</a:t>
            </a:r>
          </a:p>
          <a:p xmlns:a="http://schemas.openxmlformats.org/drawingml/2006/main">
            <a:r>
              <a:t>Project results: https://github.com/drwbkr1/West-Hawaii-Heat-Stress-ASM540/tree/main/Analysis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RMSD is the square root of the mean squared satellite-minus-logger temperature difference. These August–November comparisons use 122 complete nights per site and year. Nighttime means use 00:00 to before 06:00 HST with 72 five-minute or 360 one-minute observations.</a:t>
            </a:r>
          </a:p>
          <a:p xmlns:a="http://schemas.openxmlformats.org/drawingml/2006/main">
            <a:r>
              <a:t>NOAA Coral Reef Watch via PacIOOS: https://pae-paha.pacioos.hawaii.edu/erddap/griddap/dhw_5km.html</a:t>
            </a:r>
          </a:p>
          <a:p xmlns:a="http://schemas.openxmlformats.org/drawingml/2006/main">
            <a:r>
              <a:t>NOAA NCEI: https://www.ncei.noaa.gov/erddap/tabledap/CRCP_Subsurface_Temp_Hawaii.html</a:t>
            </a:r>
          </a:p>
          <a:p xmlns:a="http://schemas.openxmlformats.org/drawingml/2006/main">
            <a:r>
              <a:t>NOAA NCCOS habitat: https://products.coastalscience.noaa.gov/collections/benthic/e97hawaii/data2007.aspx</a:t>
            </a:r>
          </a:p>
          <a:p xmlns:a="http://schemas.openxmlformats.org/drawingml/2006/main">
            <a:r>
              <a:t>Project results: https://github.com/drwbkr1/West-Hawaii-Heat-Stress-ASM540/tree/main/Analysis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Forecast target: satellite SST seven days ahead. Train 2003–2013, validation 2014, then refit on eligible pre-2015 examples. A frozen random forest with 300 trees, depth 16, leaf size 20 and seed 540 evaluates 2015–2025. Target-date DHW only groups evaluation results and never serves as a predictor. Persistence copies current SST. Seasonal averages use earlier data around the target day of year. Lower MAE is better.</a:t>
            </a:r>
          </a:p>
          <a:p xmlns:a="http://schemas.openxmlformats.org/drawingml/2006/main">
            <a:r>
              <a:t>NOAA Coral Reef Watch via PacIOOS: https://pae-paha.pacioos.hawaii.edu/erddap/griddap/dhw_5km.html</a:t>
            </a:r>
          </a:p>
          <a:p xmlns:a="http://schemas.openxmlformats.org/drawingml/2006/main">
            <a:r>
              <a:t>NOAA NCEI: https://www.ncei.noaa.gov/erddap/tabledap/CRCP_Subsurface_Temp_Hawaii.html</a:t>
            </a:r>
          </a:p>
          <a:p xmlns:a="http://schemas.openxmlformats.org/drawingml/2006/main">
            <a:r>
              <a:t>NOAA NCCOS habitat: https://products.coastalscience.noaa.gov/collections/benthic/e97hawaii/data2007.aspx</a:t>
            </a:r>
          </a:p>
          <a:p xmlns:a="http://schemas.openxmlformats.org/drawingml/2006/main">
            <a:r>
              <a:t>Project results: https://github.com/drwbkr1/West-Hawaii-Heat-Stress-ASM540/tree/main/Analysis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evaluates thermal exposure and satellite temperature forecasting. It does not establish bleaching or mortality, causation by depth, or transferability beyond the three forecast cells. A transfer to another region is proposed future work.</a:t>
            </a:r>
          </a:p>
          <a:p xmlns:a="http://schemas.openxmlformats.org/drawingml/2006/main">
            <a:r>
              <a:t>StoryMap: https://storymaps.arcgis.com/stories/7e6551719d15418a997e2517c2bc24cc</a:t>
            </a:r>
          </a:p>
          <a:p xmlns:a="http://schemas.openxmlformats.org/drawingml/2006/main">
            <a:r>
              <a:t>NOAA Coral Reef Watch via PacIOOS: https://pae-paha.pacioos.hawaii.edu/erddap/griddap/dhw_5km.html</a:t>
            </a:r>
          </a:p>
          <a:p xmlns:a="http://schemas.openxmlformats.org/drawingml/2006/main">
            <a:r>
              <a:t>NOAA NCEI: https://www.ncei.noaa.gov/erddap/tabledap/CRCP_Subsurface_Temp_Hawaii.html</a:t>
            </a:r>
          </a:p>
          <a:p xmlns:a="http://schemas.openxmlformats.org/drawingml/2006/main">
            <a:r>
              <a:t>NOAA NCCOS habitat: https://products.coastalscience.noaa.gov/collections/benthic/e97hawaii/data2007.aspx</a:t>
            </a:r>
          </a:p>
          <a:p xmlns:a="http://schemas.openxmlformats.org/drawingml/2006/main">
            <a:r>
              <a:t>Project results: https://github.com/drwbkr1/West-Hawaii-Heat-Stress-ASM540/tree/main/Analysis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905e9dd21e4f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40c3404c124d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09b76338dc46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4dd5dbbd9248b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03bca6a2fd4a6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9621ba9ea949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07EDFA-AFF9-4825-A062-630CFA76A7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52FB4F-98C5-43B0-A2FB-3A5353EB25C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440D25D-AB5B-45C5-A1E1-54B5D10079D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3425D7-9CE7-49CF-8338-7B1D365BD4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37F1F2-9001-41C2-A52A-47B7352F262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B3157F-E46C-4C5E-95D9-30EB518981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53A83E-834B-452E-9431-1B4A6E35C9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0BB8C57-627E-4C07-BF3E-BBE1C8001C3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AE288D-42B7-4B13-AC7C-0E76261476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2A07F1-A663-49AB-8264-F750329AEC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5d981ccf944563" /><Relationship Type="http://schemas.openxmlformats.org/officeDocument/2006/relationships/slideLayout" Target="/ppt/slideLayouts/slideLayout1.xml" Id="R122c1318334340ea" /><Relationship Type="http://schemas.openxmlformats.org/officeDocument/2006/relationships/slideLayout" Target="/ppt/slideLayouts/slideLayout2.xml" Id="R1de741542a2a4c5c" /><Relationship Type="http://schemas.openxmlformats.org/officeDocument/2006/relationships/slideLayout" Target="/ppt/slideLayouts/slideLayout3.xml" Id="R3eb1208bbcb64197" /><Relationship Type="http://schemas.openxmlformats.org/officeDocument/2006/relationships/slideLayout" Target="/ppt/slideLayouts/slideLayout4.xml" Id="R3e827a7f41924374" /><Relationship Type="http://schemas.openxmlformats.org/officeDocument/2006/relationships/slideLayout" Target="/ppt/slideLayouts/slideLayout5.xml" Id="R7f44cadee5c74410" /><Relationship Type="http://schemas.openxmlformats.org/officeDocument/2006/relationships/slideLayout" Target="/ppt/slideLayouts/slideLayout6.xml" Id="R201522ee3f5d43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c1318334340ea"/>
    <p:sldLayoutId xmlns:r="http://schemas.openxmlformats.org/officeDocument/2006/relationships" id="2147483650" r:id="R1de741542a2a4c5c"/>
    <p:sldLayoutId xmlns:r="http://schemas.openxmlformats.org/officeDocument/2006/relationships" id="2147483651" r:id="R3eb1208bbcb64197"/>
    <p:sldLayoutId xmlns:r="http://schemas.openxmlformats.org/officeDocument/2006/relationships" id="2147483652" r:id="R3e827a7f41924374"/>
    <p:sldLayoutId xmlns:r="http://schemas.openxmlformats.org/officeDocument/2006/relationships" id="2147483653" r:id="R7f44cadee5c74410"/>
    <p:sldLayoutId xmlns:r="http://schemas.openxmlformats.org/officeDocument/2006/relationships" id="2147483654" r:id="R201522ee3f5d43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d75a0b46c04e52" /><Relationship Type="http://schemas.openxmlformats.org/officeDocument/2006/relationships/notesSlide" Target="/ppt/notesSlides/notesSlide1.xml" Id="R204400b7eecf45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709acd40ac4a88" /><Relationship Type="http://schemas.openxmlformats.org/officeDocument/2006/relationships/image" Target="/ppt/media/image.png" Id="R54428f35a5974fe5" /><Relationship Type="http://schemas.openxmlformats.org/officeDocument/2006/relationships/notesSlide" Target="/ppt/notesSlides/notesSlide2.xml" Id="R0a6acc1e270441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6d681d7c8ec4de7" /><Relationship Type="http://schemas.openxmlformats.org/officeDocument/2006/relationships/image" Target="/ppt/media/image2.png" Id="R9e663c785e7441c0" /><Relationship Type="http://schemas.openxmlformats.org/officeDocument/2006/relationships/notesSlide" Target="/ppt/notesSlides/notesSlide3.xml" Id="Ra4087cdf3ab44a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afda7dd7f14fcb" /><Relationship Type="http://schemas.openxmlformats.org/officeDocument/2006/relationships/notesSlide" Target="/ppt/notesSlides/notesSlide4.xml" Id="Reafb9406e70f46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52cde2995746d6" /><Relationship Type="http://schemas.openxmlformats.org/officeDocument/2006/relationships/chart" Target="/ppt/slides/charts/chart1.xml" Id="Rde152e48b4c5453c" /><Relationship Type="http://schemas.openxmlformats.org/officeDocument/2006/relationships/notesSlide" Target="/ppt/notesSlides/notesSlide5.xml" Id="R0825e45cc4ea49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d54afa8748e4942" /><Relationship Type="http://schemas.openxmlformats.org/officeDocument/2006/relationships/image" Target="/ppt/media/image3.png" Id="R34a14000ff234b83" /><Relationship Type="http://schemas.openxmlformats.org/officeDocument/2006/relationships/notesSlide" Target="/ppt/notesSlides/notesSlide6.xml" Id="Rf931b9c57fef420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 (°C)</c:v>
          </c:tx>
          <c:spPr>
            <a:solidFill xmlns:a="http://schemas.openxmlformats.org/drawingml/2006/main">
              <a:srgbClr val="167D91"/>
            </a:solidFill>
          </c:spPr>
          <c:invertIfNegative val="0"/>
          <c:cat>
            <c:strRef>
              <c:f>'Chart Data'!$A$2:$A$4</c:f>
              <c:strCache>
                <c:ptCount val="3"/>
                <c:pt idx="0">
                  <c:v>Persistence</c:v>
                </c:pt>
                <c:pt idx="1">
                  <c:v>Random forest</c:v>
                </c:pt>
                <c:pt idx="2">
                  <c:v>Seasonal</c:v>
                </c:pt>
              </c:strCache>
            </c:strRef>
          </c:cat>
          <c:val>
            <c:numRef>
              <c:f>'Chart Data'!$B$2:$B$4</c:f>
              <c:numCache>
                <c:formatCode>0.0</c:formatCode>
                <c:ptCount val="3"/>
                <c:pt idx="0">
                  <c:v>0.2228</c:v>
                </c:pt>
                <c:pt idx="1">
                  <c:v>0.235</c:v>
                </c:pt>
                <c:pt idx="2">
                  <c:v>0.5656</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CE4E9"/>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5BA9921-F9CB-4DD6-BE19-6542A73424B4}"/>
              </a:ext>
            </a:extLst>
          </p:cNvPr>
          <p:cNvSpPr>
            <a:spLocks xmlns:a="http://schemas.openxmlformats.org/drawingml/2006/main" noGrp="1"/>
          </p:cNvSpPr>
          <p:nvPr/>
        </p:nvSpPr>
        <p:spPr>
          <a:xfrm xmlns:a="http://schemas.openxmlformats.org/drawingml/2006/main">
            <a:off x="619125" y="952500"/>
            <a:ext cx="647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152F45"/>
                </a:solidFill>
                <a:latin typeface="Arial"/>
                <a:ea typeface="Arial"/>
                <a:cs typeface="Arial"/>
              </a:defRPr>
            </a:defPPr>
          </a:lstStyle>
          <a:p xmlns:a="http://schemas.openxmlformats.org/drawingml/2006/main">
            <a:pPr>
              <a:defRPr sz="4800" b="1">
                <a:solidFill>
                  <a:srgbClr val="152F45"/>
                </a:solidFill>
                <a:latin typeface="Arial"/>
                <a:ea typeface="Arial"/>
                <a:cs typeface="Arial"/>
              </a:defRPr>
            </a:pPr>
            <a:r>
              <a:rPr sz="4800" b="1">
                <a:solidFill>
                  <a:srgbClr val="152F45"/>
                </a:solidFill>
                <a:latin typeface="Arial"/>
                <a:ea typeface="Arial"/>
                <a:cs typeface="Arial"/>
              </a:rPr>
              <a:t>West Hawaiʻi</a:t>
            </a:r>
          </a:p>
          <a:p xmlns:a="http://schemas.openxmlformats.org/drawingml/2006/main">
            <a:pPr>
              <a:defRPr sz="4800" b="1">
                <a:solidFill>
                  <a:srgbClr val="152F45"/>
                </a:solidFill>
                <a:latin typeface="Arial"/>
                <a:ea typeface="Arial"/>
                <a:cs typeface="Arial"/>
              </a:defRPr>
            </a:pPr>
            <a:r>
              <a:rPr sz="4800" b="1">
                <a:solidFill>
                  <a:srgbClr val="152F45"/>
                </a:solidFill>
                <a:latin typeface="Arial"/>
                <a:ea typeface="Arial"/>
                <a:cs typeface="Arial"/>
              </a:rPr>
              <a:t>Heat Stress</a:t>
            </a:r>
          </a:p>
        </p:txBody>
      </p:sp>
      <p:sp>
        <p:nvSpPr>
          <p:cNvPr id="2" name="">
            <a:extLst xmlns:a="http://schemas.openxmlformats.org/drawingml/2006/main">
              <a:ext uri="{FF2B5EF4-FFF2-40B4-BE49-F238E27FC236}">
                <a16:creationId xmlns:a16="http://schemas.microsoft.com/office/drawing/2014/main" id="{765067D9-B9FF-49DE-8E36-82A6B3359B54}"/>
              </a:ext>
            </a:extLst>
          </p:cNvPr>
          <p:cNvSpPr>
            <a:spLocks xmlns:a="http://schemas.openxmlformats.org/drawingml/2006/main" noGrp="1"/>
          </p:cNvSpPr>
          <p:nvPr/>
        </p:nvSpPr>
        <p:spPr>
          <a:xfrm xmlns:a="http://schemas.openxmlformats.org/drawingml/2006/main">
            <a:off x="657225" y="3143250"/>
            <a:ext cx="619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C49"/>
                </a:solidFill>
                <a:latin typeface="Arial"/>
                <a:ea typeface="Arial"/>
                <a:cs typeface="Arial"/>
              </a:defRPr>
            </a:defPPr>
          </a:lstStyle>
          <a:p xmlns:a="http://schemas.openxmlformats.org/drawingml/2006/main">
            <a:pPr>
              <a:defRPr sz="2250" b="0">
                <a:solidFill>
                  <a:srgbClr val="263C49"/>
                </a:solidFill>
                <a:latin typeface="Arial"/>
                <a:ea typeface="Arial"/>
                <a:cs typeface="Arial"/>
              </a:defRPr>
            </a:pPr>
            <a:r>
              <a:rPr sz="2250" b="0">
                <a:solidFill>
                  <a:srgbClr val="263C49"/>
                </a:solidFill>
                <a:latin typeface="Arial"/>
                <a:ea typeface="Arial"/>
                <a:cs typeface="Arial"/>
              </a:rPr>
              <a:t>Satellite exposure, underwater temperatures,</a:t>
            </a:r>
          </a:p>
          <a:p xmlns:a="http://schemas.openxmlformats.org/drawingml/2006/main">
            <a:pPr>
              <a:defRPr sz="2250" b="0">
                <a:solidFill>
                  <a:srgbClr val="263C49"/>
                </a:solidFill>
                <a:latin typeface="Arial"/>
                <a:ea typeface="Arial"/>
                <a:cs typeface="Arial"/>
              </a:defRPr>
            </a:pPr>
            <a:r>
              <a:rPr sz="2250" b="0">
                <a:solidFill>
                  <a:srgbClr val="263C49"/>
                </a:solidFill>
                <a:latin typeface="Arial"/>
                <a:ea typeface="Arial"/>
                <a:cs typeface="Arial"/>
              </a:rPr>
              <a:t>and a seven-day forecasting test</a:t>
            </a:r>
          </a:p>
        </p:txBody>
      </p:sp>
      <p:sp>
        <p:nvSpPr>
          <p:cNvPr id="3" name="">
            <a:extLst xmlns:a="http://schemas.openxmlformats.org/drawingml/2006/main">
              <a:ext uri="{FF2B5EF4-FFF2-40B4-BE49-F238E27FC236}">
                <a16:creationId xmlns:a16="http://schemas.microsoft.com/office/drawing/2014/main" id="{90CF408D-B4F6-43BE-A887-34F9A3A79A79}"/>
              </a:ext>
            </a:extLst>
          </p:cNvPr>
          <p:cNvSpPr>
            <a:spLocks xmlns:a="http://schemas.openxmlformats.org/drawingml/2006/main" noGrp="1"/>
          </p:cNvSpPr>
          <p:nvPr/>
        </p:nvSpPr>
        <p:spPr>
          <a:xfrm xmlns:a="http://schemas.openxmlformats.org/drawingml/2006/main">
            <a:off x="666750" y="5381625"/>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7D91"/>
                </a:solidFill>
                <a:latin typeface="Arial"/>
                <a:ea typeface="Arial"/>
                <a:cs typeface="Arial"/>
              </a:defRPr>
            </a:defPPr>
          </a:lstStyle>
          <a:p xmlns:a="http://schemas.openxmlformats.org/drawingml/2006/main">
            <a:pPr>
              <a:defRPr sz="1875" b="0">
                <a:solidFill>
                  <a:srgbClr val="167D91"/>
                </a:solidFill>
                <a:latin typeface="Arial"/>
                <a:ea typeface="Arial"/>
                <a:cs typeface="Arial"/>
              </a:defRPr>
            </a:pPr>
            <a:r>
              <a:rPr sz="1875" b="0">
                <a:solidFill>
                  <a:srgbClr val="167D91"/>
                </a:solidFill>
                <a:latin typeface="Arial"/>
                <a:ea typeface="Arial"/>
                <a:cs typeface="Arial"/>
              </a:rPr>
              <a:t>Drew Baker</a:t>
            </a:r>
          </a:p>
          <a:p xmlns:a="http://schemas.openxmlformats.org/drawingml/2006/main">
            <a:pPr>
              <a:defRPr sz="1875" b="0">
                <a:solidFill>
                  <a:srgbClr val="167D91"/>
                </a:solidFill>
                <a:latin typeface="Arial"/>
                <a:ea typeface="Arial"/>
                <a:cs typeface="Arial"/>
              </a:defRPr>
            </a:pPr>
            <a:r>
              <a:rPr sz="1875" b="0">
                <a:solidFill>
                  <a:srgbClr val="167D91"/>
                </a:solidFill>
                <a:latin typeface="Arial"/>
                <a:ea typeface="Arial"/>
                <a:cs typeface="Arial"/>
              </a:rPr>
              <a:t>ASM54000, October 2026</a:t>
            </a:r>
          </a:p>
        </p:txBody>
      </p:sp>
    </p:spTree>
    <p:extLst>
      <p:ext uri="{BB962C8B-B14F-4D97-AF65-F5344CB8AC3E}">
        <p14:creationId xmlns:p14="http://schemas.microsoft.com/office/powerpoint/2010/main" val="4116060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39B425-23A5-47C3-BF5C-B0E4DBEA7241}"/>
              </a:ext>
            </a:extLst>
          </p:cNvPr>
          <p:cNvSpPr>
            <a:spLocks xmlns:a="http://schemas.openxmlformats.org/drawingml/2006/main" noGrp="1"/>
          </p:cNvSpPr>
          <p:nvPr/>
        </p:nvSpPr>
        <p:spPr>
          <a:xfrm xmlns:a="http://schemas.openxmlformats.org/drawingml/2006/main">
            <a:off x="514350" y="361950"/>
            <a:ext cx="1114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F45"/>
                </a:solidFill>
                <a:latin typeface="Arial"/>
                <a:ea typeface="Arial"/>
                <a:cs typeface="Arial"/>
              </a:defRPr>
            </a:defPPr>
          </a:lstStyle>
          <a:p xmlns:a="http://schemas.openxmlformats.org/drawingml/2006/main">
            <a:pPr>
              <a:defRPr sz="3150" b="1">
                <a:solidFill>
                  <a:srgbClr val="152F45"/>
                </a:solidFill>
                <a:latin typeface="Arial"/>
                <a:ea typeface="Arial"/>
                <a:cs typeface="Arial"/>
              </a:defRPr>
            </a:pPr>
            <a:r>
              <a:rPr sz="3150" b="1">
                <a:solidFill>
                  <a:srgbClr val="152F45"/>
                </a:solidFill>
                <a:latin typeface="Arial"/>
                <a:ea typeface="Arial"/>
                <a:cs typeface="Arial"/>
              </a:rPr>
              <a:t>Study area and analytical approach</a:t>
            </a:r>
          </a:p>
        </p:txBody>
      </p:sp>
      <p:sp>
        <p:nvSpPr>
          <p:cNvPr id="2" name="">
            <a:extLst xmlns:a="http://schemas.openxmlformats.org/drawingml/2006/main">
              <a:ext uri="{FF2B5EF4-FFF2-40B4-BE49-F238E27FC236}">
                <a16:creationId xmlns:a16="http://schemas.microsoft.com/office/drawing/2014/main" id="{A7971451-0659-446B-8DA9-60C511211B84}"/>
              </a:ext>
            </a:extLst>
          </p:cNvPr>
          <p:cNvSpPr>
            <a:spLocks xmlns:a="http://schemas.openxmlformats.org/drawingml/2006/main" noGrp="1"/>
          </p:cNvSpPr>
          <p:nvPr/>
        </p:nvSpPr>
        <p:spPr>
          <a:xfrm xmlns:a="http://schemas.openxmlformats.org/drawingml/2006/main">
            <a:off x="571500" y="15716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7D91"/>
                </a:solidFill>
                <a:latin typeface="Arial"/>
                <a:ea typeface="Arial"/>
                <a:cs typeface="Arial"/>
              </a:defRPr>
            </a:defPPr>
          </a:lstStyle>
          <a:p xmlns:a="http://schemas.openxmlformats.org/drawingml/2006/main">
            <a:pPr>
              <a:defRPr sz="2250" b="1">
                <a:solidFill>
                  <a:srgbClr val="167D91"/>
                </a:solidFill>
                <a:latin typeface="Arial"/>
                <a:ea typeface="Arial"/>
                <a:cs typeface="Arial"/>
              </a:defRPr>
            </a:pPr>
            <a:r>
              <a:rPr sz="2250" b="1">
                <a:solidFill>
                  <a:srgbClr val="167D91"/>
                </a:solidFill>
                <a:latin typeface="Arial"/>
                <a:ea typeface="Arial"/>
                <a:cs typeface="Arial"/>
              </a:rPr>
              <a:t>Regional heat exposure</a:t>
            </a:r>
          </a:p>
        </p:txBody>
      </p:sp>
      <p:sp>
        <p:nvSpPr>
          <p:cNvPr id="3" name="">
            <a:extLst xmlns:a="http://schemas.openxmlformats.org/drawingml/2006/main">
              <a:ext uri="{FF2B5EF4-FFF2-40B4-BE49-F238E27FC236}">
                <a16:creationId xmlns:a16="http://schemas.microsoft.com/office/drawing/2014/main" id="{23E5B070-3062-43C0-992D-BA1A0D577462}"/>
              </a:ext>
            </a:extLst>
          </p:cNvPr>
          <p:cNvSpPr>
            <a:spLocks xmlns:a="http://schemas.openxmlformats.org/drawingml/2006/main" noGrp="1"/>
          </p:cNvSpPr>
          <p:nvPr/>
        </p:nvSpPr>
        <p:spPr>
          <a:xfrm xmlns:a="http://schemas.openxmlformats.org/drawingml/2006/main">
            <a:off x="571500" y="20955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C49"/>
                </a:solidFill>
                <a:latin typeface="Arial"/>
                <a:ea typeface="Arial"/>
                <a:cs typeface="Arial"/>
              </a:defRPr>
            </a:defPPr>
          </a:lstStyle>
          <a:p xmlns:a="http://schemas.openxmlformats.org/drawingml/2006/main">
            <a:pPr>
              <a:defRPr sz="2100" b="0">
                <a:solidFill>
                  <a:srgbClr val="263C49"/>
                </a:solidFill>
                <a:latin typeface="Arial"/>
                <a:ea typeface="Arial"/>
                <a:cs typeface="Arial"/>
              </a:defRPr>
            </a:pPr>
            <a:r>
              <a:rPr sz="2100" b="0">
                <a:solidFill>
                  <a:srgbClr val="263C49"/>
                </a:solidFill>
                <a:latin typeface="Arial"/>
                <a:ea typeface="Arial"/>
                <a:cs typeface="Arial"/>
              </a:rPr>
              <a:t>Match 2015 and 2019 satellite cells. Overlay mapped reef and hardbottom habitat.</a:t>
            </a:r>
          </a:p>
        </p:txBody>
      </p:sp>
      <p:sp>
        <p:nvSpPr>
          <p:cNvPr id="4" name="">
            <a:extLst xmlns:a="http://schemas.openxmlformats.org/drawingml/2006/main">
              <a:ext uri="{FF2B5EF4-FFF2-40B4-BE49-F238E27FC236}">
                <a16:creationId xmlns:a16="http://schemas.microsoft.com/office/drawing/2014/main" id="{065FFC4F-309A-421A-978B-117E6D63C94B}"/>
              </a:ext>
            </a:extLst>
          </p:cNvPr>
          <p:cNvSpPr>
            <a:spLocks xmlns:a="http://schemas.openxmlformats.org/drawingml/2006/main" noGrp="1"/>
          </p:cNvSpPr>
          <p:nvPr/>
        </p:nvSpPr>
        <p:spPr>
          <a:xfrm xmlns:a="http://schemas.openxmlformats.org/drawingml/2006/main">
            <a:off x="571500" y="33337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7D91"/>
                </a:solidFill>
                <a:latin typeface="Arial"/>
                <a:ea typeface="Arial"/>
                <a:cs typeface="Arial"/>
              </a:defRPr>
            </a:defPPr>
          </a:lstStyle>
          <a:p xmlns:a="http://schemas.openxmlformats.org/drawingml/2006/main">
            <a:pPr>
              <a:defRPr sz="2250" b="1">
                <a:solidFill>
                  <a:srgbClr val="167D91"/>
                </a:solidFill>
                <a:latin typeface="Arial"/>
                <a:ea typeface="Arial"/>
                <a:cs typeface="Arial"/>
              </a:defRPr>
            </a:pPr>
            <a:r>
              <a:rPr sz="2250" b="1">
                <a:solidFill>
                  <a:srgbClr val="167D91"/>
                </a:solidFill>
                <a:latin typeface="Arial"/>
                <a:ea typeface="Arial"/>
                <a:cs typeface="Arial"/>
              </a:rPr>
              <a:t>Underwater comparison</a:t>
            </a:r>
          </a:p>
        </p:txBody>
      </p:sp>
      <p:sp>
        <p:nvSpPr>
          <p:cNvPr id="5" name="">
            <a:extLst xmlns:a="http://schemas.openxmlformats.org/drawingml/2006/main">
              <a:ext uri="{FF2B5EF4-FFF2-40B4-BE49-F238E27FC236}">
                <a16:creationId xmlns:a16="http://schemas.microsoft.com/office/drawing/2014/main" id="{EB526435-B7EE-45BD-9D7E-10C21AAB8210}"/>
              </a:ext>
            </a:extLst>
          </p:cNvPr>
          <p:cNvSpPr>
            <a:spLocks xmlns:a="http://schemas.openxmlformats.org/drawingml/2006/main" noGrp="1"/>
          </p:cNvSpPr>
          <p:nvPr/>
        </p:nvSpPr>
        <p:spPr>
          <a:xfrm xmlns:a="http://schemas.openxmlformats.org/drawingml/2006/main">
            <a:off x="571500" y="385762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C49"/>
                </a:solidFill>
                <a:latin typeface="Arial"/>
                <a:ea typeface="Arial"/>
                <a:cs typeface="Arial"/>
              </a:defRPr>
            </a:defPPr>
          </a:lstStyle>
          <a:p xmlns:a="http://schemas.openxmlformats.org/drawingml/2006/main">
            <a:pPr>
              <a:defRPr sz="2100" b="0">
                <a:solidFill>
                  <a:srgbClr val="263C49"/>
                </a:solidFill>
                <a:latin typeface="Arial"/>
                <a:ea typeface="Arial"/>
                <a:cs typeface="Arial"/>
              </a:defRPr>
            </a:pPr>
            <a:r>
              <a:rPr sz="2100" b="0">
                <a:solidFill>
                  <a:srgbClr val="263C49"/>
                </a:solidFill>
                <a:latin typeface="Arial"/>
                <a:ea typeface="Arial"/>
                <a:cs typeface="Arial"/>
              </a:rPr>
              <a:t>Match complete nighttime logger records to daily satellite observations.</a:t>
            </a:r>
          </a:p>
        </p:txBody>
      </p:sp>
      <p:sp>
        <p:nvSpPr>
          <p:cNvPr id="6" name="">
            <a:extLst xmlns:a="http://schemas.openxmlformats.org/drawingml/2006/main">
              <a:ext uri="{FF2B5EF4-FFF2-40B4-BE49-F238E27FC236}">
                <a16:creationId xmlns:a16="http://schemas.microsoft.com/office/drawing/2014/main" id="{000EB112-3919-407B-99EB-11198E9DD466}"/>
              </a:ext>
            </a:extLst>
          </p:cNvPr>
          <p:cNvSpPr>
            <a:spLocks xmlns:a="http://schemas.openxmlformats.org/drawingml/2006/main" noGrp="1"/>
          </p:cNvSpPr>
          <p:nvPr/>
        </p:nvSpPr>
        <p:spPr>
          <a:xfrm xmlns:a="http://schemas.openxmlformats.org/drawingml/2006/main">
            <a:off x="571500" y="50482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7D91"/>
                </a:solidFill>
                <a:latin typeface="Arial"/>
                <a:ea typeface="Arial"/>
                <a:cs typeface="Arial"/>
              </a:defRPr>
            </a:defPPr>
          </a:lstStyle>
          <a:p xmlns:a="http://schemas.openxmlformats.org/drawingml/2006/main">
            <a:pPr>
              <a:defRPr sz="2250" b="1">
                <a:solidFill>
                  <a:srgbClr val="167D91"/>
                </a:solidFill>
                <a:latin typeface="Arial"/>
                <a:ea typeface="Arial"/>
                <a:cs typeface="Arial"/>
              </a:defRPr>
            </a:pPr>
            <a:r>
              <a:rPr sz="2250" b="1">
                <a:solidFill>
                  <a:srgbClr val="167D91"/>
                </a:solidFill>
                <a:latin typeface="Arial"/>
                <a:ea typeface="Arial"/>
                <a:cs typeface="Arial"/>
              </a:rPr>
              <a:t>Forecast test</a:t>
            </a:r>
          </a:p>
        </p:txBody>
      </p:sp>
      <p:sp>
        <p:nvSpPr>
          <p:cNvPr id="7" name="">
            <a:extLst xmlns:a="http://schemas.openxmlformats.org/drawingml/2006/main">
              <a:ext uri="{FF2B5EF4-FFF2-40B4-BE49-F238E27FC236}">
                <a16:creationId xmlns:a16="http://schemas.microsoft.com/office/drawing/2014/main" id="{90DCF91C-A2D8-40BA-B07A-9FE52BD5F6CB}"/>
              </a:ext>
            </a:extLst>
          </p:cNvPr>
          <p:cNvSpPr>
            <a:spLocks xmlns:a="http://schemas.openxmlformats.org/drawingml/2006/main" noGrp="1"/>
          </p:cNvSpPr>
          <p:nvPr/>
        </p:nvSpPr>
        <p:spPr>
          <a:xfrm xmlns:a="http://schemas.openxmlformats.org/drawingml/2006/main">
            <a:off x="571500" y="557212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C49"/>
                </a:solidFill>
                <a:latin typeface="Arial"/>
                <a:ea typeface="Arial"/>
                <a:cs typeface="Arial"/>
              </a:defRPr>
            </a:defPPr>
          </a:lstStyle>
          <a:p xmlns:a="http://schemas.openxmlformats.org/drawingml/2006/main">
            <a:pPr>
              <a:defRPr sz="2100" b="0">
                <a:solidFill>
                  <a:srgbClr val="263C49"/>
                </a:solidFill>
                <a:latin typeface="Arial"/>
                <a:ea typeface="Arial"/>
                <a:cs typeface="Arial"/>
              </a:defRPr>
            </a:pPr>
            <a:r>
              <a:rPr sz="2100" b="0">
                <a:solidFill>
                  <a:srgbClr val="263C49"/>
                </a:solidFill>
                <a:latin typeface="Arial"/>
                <a:ea typeface="Arial"/>
                <a:cs typeface="Arial"/>
              </a:rPr>
              <a:t>Compare a random forest with persistence and seasonal averages at three cells.</a:t>
            </a:r>
          </a:p>
        </p:txBody>
      </p:sp>
      <p:pic>
        <p:nvPicPr>
          <p:cNvPr id="8" name="">
            <a:extLst xmlns:a="http://schemas.openxmlformats.org/drawingml/2006/main">
              <a:ext uri="{FF2B5EF4-FFF2-40B4-BE49-F238E27FC236}">
                <a16:creationId xmlns:a16="http://schemas.microsoft.com/office/drawing/2014/main" id="{14785CEB-8722-49CB-B3CB-269940D6FF98}"/>
              </a:ext>
            </a:extLst>
          </p:cNvPr>
          <p:cNvPicPr>
            <a:picLocks xmlns:a="http://schemas.openxmlformats.org/drawingml/2006/main" noChangeAspect="1"/>
          </p:cNvPicPr>
          <p:nvPr/>
        </p:nvPicPr>
        <p:blipFill>
          <a:blip xmlns:r="http://schemas.openxmlformats.org/officeDocument/2006/relationships" xmlns:a="http://schemas.openxmlformats.org/drawingml/2006/main" r:embed="R54428f35a5974fe5"/>
          <a:stretch xmlns:a="http://schemas.openxmlformats.org/drawingml/2006/main"/>
        </p:blipFill>
        <p:spPr>
          <a:xfrm xmlns:a="http://schemas.openxmlformats.org/drawingml/2006/main">
            <a:off x="6238875" y="1664710"/>
            <a:ext cx="5429250" cy="4195330"/>
          </a:xfrm>
          <a:prstGeom xmlns:a="http://schemas.openxmlformats.org/drawingml/2006/main" prst="rect">
            <a:avLst/>
          </a:prstGeom>
        </p:spPr>
      </p:pic>
    </p:spTree>
    <p:extLst>
      <p:ext uri="{BB962C8B-B14F-4D97-AF65-F5344CB8AC3E}">
        <p14:creationId xmlns:p14="http://schemas.microsoft.com/office/powerpoint/2010/main" val="20209205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8F4BA8-4DD5-409C-AA71-CDAD478D1CFC}"/>
              </a:ext>
            </a:extLst>
          </p:cNvPr>
          <p:cNvSpPr>
            <a:spLocks xmlns:a="http://schemas.openxmlformats.org/drawingml/2006/main" noGrp="1"/>
          </p:cNvSpPr>
          <p:nvPr/>
        </p:nvSpPr>
        <p:spPr>
          <a:xfrm xmlns:a="http://schemas.openxmlformats.org/drawingml/2006/main">
            <a:off x="514350" y="361950"/>
            <a:ext cx="1114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F45"/>
                </a:solidFill>
                <a:latin typeface="Arial"/>
                <a:ea typeface="Arial"/>
                <a:cs typeface="Arial"/>
              </a:defRPr>
            </a:defPPr>
          </a:lstStyle>
          <a:p xmlns:a="http://schemas.openxmlformats.org/drawingml/2006/main">
            <a:pPr>
              <a:defRPr sz="3150" b="1">
                <a:solidFill>
                  <a:srgbClr val="152F45"/>
                </a:solidFill>
                <a:latin typeface="Arial"/>
                <a:ea typeface="Arial"/>
                <a:cs typeface="Arial"/>
              </a:defRPr>
            </a:pPr>
            <a:r>
              <a:rPr sz="3150" b="1">
                <a:solidFill>
                  <a:srgbClr val="152F45"/>
                </a:solidFill>
                <a:latin typeface="Arial"/>
                <a:ea typeface="Arial"/>
                <a:cs typeface="Arial"/>
              </a:rPr>
              <a:t>2015 had greater accumulated heat stress</a:t>
            </a:r>
          </a:p>
        </p:txBody>
      </p:sp>
      <p:pic>
        <p:nvPicPr>
          <p:cNvPr id="2" name="">
            <a:extLst xmlns:a="http://schemas.openxmlformats.org/drawingml/2006/main">
              <a:ext uri="{FF2B5EF4-FFF2-40B4-BE49-F238E27FC236}">
                <a16:creationId xmlns:a16="http://schemas.microsoft.com/office/drawing/2014/main" id="{066999B9-7359-4AD5-9924-BF1822245ED7}"/>
              </a:ext>
            </a:extLst>
          </p:cNvPr>
          <p:cNvPicPr>
            <a:picLocks xmlns:a="http://schemas.openxmlformats.org/drawingml/2006/main" noChangeAspect="1"/>
          </p:cNvPicPr>
          <p:nvPr/>
        </p:nvPicPr>
        <p:blipFill>
          <a:blip xmlns:r="http://schemas.openxmlformats.org/officeDocument/2006/relationships" xmlns:a="http://schemas.openxmlformats.org/drawingml/2006/main" r:embed="R9e663c785e7441c0"/>
          <a:stretch xmlns:a="http://schemas.openxmlformats.org/drawingml/2006/main"/>
        </p:blipFill>
        <p:spPr>
          <a:xfrm xmlns:a="http://schemas.openxmlformats.org/drawingml/2006/main">
            <a:off x="815228" y="1333500"/>
            <a:ext cx="6656294" cy="5143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16BE57-B410-4F9D-A889-91B651E2868B}"/>
              </a:ext>
            </a:extLst>
          </p:cNvPr>
          <p:cNvSpPr>
            <a:spLocks xmlns:a="http://schemas.openxmlformats.org/drawingml/2006/main" noGrp="1"/>
          </p:cNvSpPr>
          <p:nvPr/>
        </p:nvSpPr>
        <p:spPr>
          <a:xfrm xmlns:a="http://schemas.openxmlformats.org/drawingml/2006/main">
            <a:off x="8334375" y="152400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7D91"/>
                </a:solidFill>
                <a:latin typeface="Arial"/>
                <a:ea typeface="Arial"/>
                <a:cs typeface="Arial"/>
              </a:defRPr>
            </a:defPPr>
          </a:lstStyle>
          <a:p xmlns:a="http://schemas.openxmlformats.org/drawingml/2006/main">
            <a:pPr>
              <a:defRPr sz="2175" b="1">
                <a:solidFill>
                  <a:srgbClr val="167D91"/>
                </a:solidFill>
                <a:latin typeface="Arial"/>
                <a:ea typeface="Arial"/>
                <a:cs typeface="Arial"/>
              </a:defRPr>
            </a:pPr>
            <a:r>
              <a:rPr sz="2175" b="1">
                <a:solidFill>
                  <a:srgbClr val="167D91"/>
                </a:solidFill>
                <a:latin typeface="Arial"/>
                <a:ea typeface="Arial"/>
                <a:cs typeface="Arial"/>
              </a:rPr>
              <a:t>Median peak DHW</a:t>
            </a:r>
          </a:p>
        </p:txBody>
      </p:sp>
      <p:sp>
        <p:nvSpPr>
          <p:cNvPr id="4" name="">
            <a:extLst xmlns:a="http://schemas.openxmlformats.org/drawingml/2006/main">
              <a:ext uri="{FF2B5EF4-FFF2-40B4-BE49-F238E27FC236}">
                <a16:creationId xmlns:a16="http://schemas.microsoft.com/office/drawing/2014/main" id="{44856D46-D322-412E-A7DA-A9EE3E84BB7E}"/>
              </a:ext>
            </a:extLst>
          </p:cNvPr>
          <p:cNvSpPr>
            <a:spLocks xmlns:a="http://schemas.openxmlformats.org/drawingml/2006/main" noGrp="1"/>
          </p:cNvSpPr>
          <p:nvPr/>
        </p:nvSpPr>
        <p:spPr>
          <a:xfrm xmlns:a="http://schemas.openxmlformats.org/drawingml/2006/main">
            <a:off x="8334375" y="2047875"/>
            <a:ext cx="3286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C49"/>
                </a:solidFill>
                <a:latin typeface="Arial"/>
                <a:ea typeface="Arial"/>
                <a:cs typeface="Arial"/>
              </a:defRPr>
            </a:defPPr>
          </a:lstStyle>
          <a:p xmlns:a="http://schemas.openxmlformats.org/drawingml/2006/main">
            <a:pPr>
              <a:defRPr sz="2175" b="0">
                <a:solidFill>
                  <a:srgbClr val="263C49"/>
                </a:solidFill>
                <a:latin typeface="Arial"/>
                <a:ea typeface="Arial"/>
                <a:cs typeface="Arial"/>
              </a:defRPr>
            </a:pPr>
            <a:r>
              <a:rPr sz="2175" b="0">
                <a:solidFill>
                  <a:srgbClr val="263C49"/>
                </a:solidFill>
                <a:latin typeface="Arial"/>
                <a:ea typeface="Arial"/>
                <a:cs typeface="Arial"/>
              </a:rPr>
              <a:t>11.64 in 2015</a:t>
            </a:r>
          </a:p>
          <a:p xmlns:a="http://schemas.openxmlformats.org/drawingml/2006/main">
            <a:pPr>
              <a:defRPr sz="2175" b="0">
                <a:solidFill>
                  <a:srgbClr val="263C49"/>
                </a:solidFill>
                <a:latin typeface="Arial"/>
                <a:ea typeface="Arial"/>
                <a:cs typeface="Arial"/>
              </a:defRPr>
            </a:pPr>
            <a:r>
              <a:rPr sz="2175" b="0">
                <a:solidFill>
                  <a:srgbClr val="263C49"/>
                </a:solidFill>
                <a:latin typeface="Arial"/>
                <a:ea typeface="Arial"/>
                <a:cs typeface="Arial"/>
              </a:rPr>
              <a:t>10.39 in 2019</a:t>
            </a:r>
          </a:p>
          <a:p xmlns:a="http://schemas.openxmlformats.org/drawingml/2006/main">
            <a:pPr>
              <a:defRPr sz="2175" b="0">
                <a:solidFill>
                  <a:srgbClr val="263C49"/>
                </a:solidFill>
                <a:latin typeface="Arial"/>
                <a:ea typeface="Arial"/>
                <a:cs typeface="Arial"/>
              </a:defRPr>
            </a:pPr>
            <a:r>
              <a:rPr sz="2175" b="0">
                <a:solidFill>
                  <a:srgbClr val="263C49"/>
                </a:solidFill>
                <a:latin typeface="Arial"/>
                <a:ea typeface="Arial"/>
                <a:cs typeface="Arial"/>
              </a:rPr>
              <a:t>°C-weeks</a:t>
            </a:r>
          </a:p>
        </p:txBody>
      </p:sp>
      <p:sp>
        <p:nvSpPr>
          <p:cNvPr id="5" name="">
            <a:extLst xmlns:a="http://schemas.openxmlformats.org/drawingml/2006/main">
              <a:ext uri="{FF2B5EF4-FFF2-40B4-BE49-F238E27FC236}">
                <a16:creationId xmlns:a16="http://schemas.microsoft.com/office/drawing/2014/main" id="{19CA54D0-B307-42AE-8EC4-9961B18EF7DF}"/>
              </a:ext>
            </a:extLst>
          </p:cNvPr>
          <p:cNvSpPr>
            <a:spLocks xmlns:a="http://schemas.openxmlformats.org/drawingml/2006/main" noGrp="1"/>
          </p:cNvSpPr>
          <p:nvPr/>
        </p:nvSpPr>
        <p:spPr>
          <a:xfrm xmlns:a="http://schemas.openxmlformats.org/drawingml/2006/main">
            <a:off x="8334375" y="357187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7D91"/>
                </a:solidFill>
                <a:latin typeface="Arial"/>
                <a:ea typeface="Arial"/>
                <a:cs typeface="Arial"/>
              </a:defRPr>
            </a:defPPr>
          </a:lstStyle>
          <a:p xmlns:a="http://schemas.openxmlformats.org/drawingml/2006/main">
            <a:pPr>
              <a:defRPr sz="2175" b="1">
                <a:solidFill>
                  <a:srgbClr val="167D91"/>
                </a:solidFill>
                <a:latin typeface="Arial"/>
                <a:ea typeface="Arial"/>
                <a:cs typeface="Arial"/>
              </a:defRPr>
            </a:pPr>
            <a:r>
              <a:rPr sz="2175" b="1">
                <a:solidFill>
                  <a:srgbClr val="167D91"/>
                </a:solidFill>
                <a:latin typeface="Arial"/>
                <a:ea typeface="Arial"/>
                <a:cs typeface="Arial"/>
              </a:rPr>
              <a:t>Reef area reaching DHW ≥8</a:t>
            </a:r>
          </a:p>
        </p:txBody>
      </p:sp>
      <p:sp>
        <p:nvSpPr>
          <p:cNvPr id="6" name="">
            <a:extLst xmlns:a="http://schemas.openxmlformats.org/drawingml/2006/main">
              <a:ext uri="{FF2B5EF4-FFF2-40B4-BE49-F238E27FC236}">
                <a16:creationId xmlns:a16="http://schemas.microsoft.com/office/drawing/2014/main" id="{81566CB9-C51C-4CEF-8F64-4616613972E8}"/>
              </a:ext>
            </a:extLst>
          </p:cNvPr>
          <p:cNvSpPr>
            <a:spLocks xmlns:a="http://schemas.openxmlformats.org/drawingml/2006/main" noGrp="1"/>
          </p:cNvSpPr>
          <p:nvPr/>
        </p:nvSpPr>
        <p:spPr>
          <a:xfrm xmlns:a="http://schemas.openxmlformats.org/drawingml/2006/main">
            <a:off x="8334375" y="4476750"/>
            <a:ext cx="328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C49"/>
                </a:solidFill>
                <a:latin typeface="Arial"/>
                <a:ea typeface="Arial"/>
                <a:cs typeface="Arial"/>
              </a:defRPr>
            </a:defPPr>
          </a:lstStyle>
          <a:p xmlns:a="http://schemas.openxmlformats.org/drawingml/2006/main">
            <a:pPr>
              <a:defRPr sz="2175" b="0">
                <a:solidFill>
                  <a:srgbClr val="263C49"/>
                </a:solidFill>
                <a:latin typeface="Arial"/>
                <a:ea typeface="Arial"/>
                <a:cs typeface="Arial"/>
              </a:defRPr>
            </a:pPr>
            <a:r>
              <a:rPr sz="2175" b="0">
                <a:solidFill>
                  <a:srgbClr val="263C49"/>
                </a:solidFill>
                <a:latin typeface="Arial"/>
                <a:ea typeface="Arial"/>
                <a:cs typeface="Arial"/>
              </a:rPr>
              <a:t>4,731 ha in 2015</a:t>
            </a:r>
          </a:p>
          <a:p xmlns:a="http://schemas.openxmlformats.org/drawingml/2006/main">
            <a:pPr>
              <a:defRPr sz="2175" b="0">
                <a:solidFill>
                  <a:srgbClr val="263C49"/>
                </a:solidFill>
                <a:latin typeface="Arial"/>
                <a:ea typeface="Arial"/>
                <a:cs typeface="Arial"/>
              </a:defRPr>
            </a:pPr>
            <a:r>
              <a:rPr sz="2175" b="0">
                <a:solidFill>
                  <a:srgbClr val="263C49"/>
                </a:solidFill>
                <a:latin typeface="Arial"/>
                <a:ea typeface="Arial"/>
                <a:cs typeface="Arial"/>
              </a:rPr>
              <a:t>3,612 ha in 2019</a:t>
            </a:r>
          </a:p>
        </p:txBody>
      </p:sp>
      <p:sp>
        <p:nvSpPr>
          <p:cNvPr id="7" name="">
            <a:extLst xmlns:a="http://schemas.openxmlformats.org/drawingml/2006/main">
              <a:ext uri="{FF2B5EF4-FFF2-40B4-BE49-F238E27FC236}">
                <a16:creationId xmlns:a16="http://schemas.microsoft.com/office/drawing/2014/main" id="{81B54E4A-7D04-4A90-A1DD-695A7DA415EA}"/>
              </a:ext>
            </a:extLst>
          </p:cNvPr>
          <p:cNvSpPr>
            <a:spLocks xmlns:a="http://schemas.openxmlformats.org/drawingml/2006/main" noGrp="1"/>
          </p:cNvSpPr>
          <p:nvPr/>
        </p:nvSpPr>
        <p:spPr>
          <a:xfrm xmlns:a="http://schemas.openxmlformats.org/drawingml/2006/main">
            <a:off x="8334375" y="5667375"/>
            <a:ext cx="328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C49"/>
                </a:solidFill>
                <a:latin typeface="Arial"/>
                <a:ea typeface="Arial"/>
                <a:cs typeface="Arial"/>
              </a:defRPr>
            </a:defPPr>
          </a:lstStyle>
          <a:p xmlns:a="http://schemas.openxmlformats.org/drawingml/2006/main">
            <a:pPr>
              <a:defRPr sz="1725" b="0">
                <a:solidFill>
                  <a:srgbClr val="263C49"/>
                </a:solidFill>
                <a:latin typeface="Arial"/>
                <a:ea typeface="Arial"/>
                <a:cs typeface="Arial"/>
              </a:defRPr>
            </a:pPr>
            <a:r>
              <a:rPr sz="1725" b="0">
                <a:solidFill>
                  <a:srgbClr val="263C49"/>
                </a:solidFill>
                <a:latin typeface="Arial"/>
                <a:ea typeface="Arial"/>
                <a:cs typeface="Arial"/>
              </a:rPr>
              <a:t>971 ha of mapped habitat lacked valid satellite DHW.</a:t>
            </a:r>
          </a:p>
        </p:txBody>
      </p:sp>
    </p:spTree>
    <p:extLst>
      <p:ext uri="{BB962C8B-B14F-4D97-AF65-F5344CB8AC3E}">
        <p14:creationId xmlns:p14="http://schemas.microsoft.com/office/powerpoint/2010/main" val="10487820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745A11-A797-4C20-81E8-5468669431FA}"/>
              </a:ext>
            </a:extLst>
          </p:cNvPr>
          <p:cNvSpPr>
            <a:spLocks xmlns:a="http://schemas.openxmlformats.org/drawingml/2006/main" noGrp="1"/>
          </p:cNvSpPr>
          <p:nvPr/>
        </p:nvSpPr>
        <p:spPr>
          <a:xfrm xmlns:a="http://schemas.openxmlformats.org/drawingml/2006/main">
            <a:off x="514350" y="361950"/>
            <a:ext cx="1114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F45"/>
                </a:solidFill>
                <a:latin typeface="Arial"/>
                <a:ea typeface="Arial"/>
                <a:cs typeface="Arial"/>
              </a:defRPr>
            </a:defPPr>
          </a:lstStyle>
          <a:p xmlns:a="http://schemas.openxmlformats.org/drawingml/2006/main">
            <a:pPr>
              <a:defRPr sz="3150" b="1">
                <a:solidFill>
                  <a:srgbClr val="152F45"/>
                </a:solidFill>
                <a:latin typeface="Arial"/>
                <a:ea typeface="Arial"/>
                <a:cs typeface="Arial"/>
              </a:defRPr>
            </a:pPr>
            <a:r>
              <a:rPr sz="3150" b="1">
                <a:solidFill>
                  <a:srgbClr val="152F45"/>
                </a:solidFill>
                <a:latin typeface="Arial"/>
                <a:ea typeface="Arial"/>
                <a:cs typeface="Arial"/>
              </a:rPr>
              <a:t>Satellite and underwater temperatures differ</a:t>
            </a:r>
          </a:p>
        </p:txBody>
      </p:sp>
      <p:sp>
        <p:nvSpPr>
          <p:cNvPr id="2" name="">
            <a:extLst xmlns:a="http://schemas.openxmlformats.org/drawingml/2006/main">
              <a:ext uri="{FF2B5EF4-FFF2-40B4-BE49-F238E27FC236}">
                <a16:creationId xmlns:a16="http://schemas.microsoft.com/office/drawing/2014/main" id="{31CF5144-0BB2-49B9-946B-9F7EF1C9AEC3}"/>
              </a:ext>
            </a:extLst>
          </p:cNvPr>
          <p:cNvSpPr>
            <a:spLocks xmlns:a="http://schemas.openxmlformats.org/drawingml/2006/main" noGrp="1"/>
          </p:cNvSpPr>
          <p:nvPr/>
        </p:nvSpPr>
        <p:spPr>
          <a:xfrm xmlns:a="http://schemas.openxmlformats.org/drawingml/2006/main">
            <a:off x="571500" y="1428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7D91"/>
                </a:solidFill>
                <a:latin typeface="Arial"/>
                <a:ea typeface="Arial"/>
                <a:cs typeface="Arial"/>
              </a:defRPr>
            </a:defPPr>
          </a:lstStyle>
          <a:p xmlns:a="http://schemas.openxmlformats.org/drawingml/2006/main">
            <a:pPr>
              <a:defRPr sz="2250" b="1">
                <a:solidFill>
                  <a:srgbClr val="167D91"/>
                </a:solidFill>
                <a:latin typeface="Arial"/>
                <a:ea typeface="Arial"/>
                <a:cs typeface="Arial"/>
              </a:defRPr>
            </a:pPr>
            <a:r>
              <a:rPr sz="2250" b="1">
                <a:solidFill>
                  <a:srgbClr val="167D91"/>
                </a:solidFill>
                <a:latin typeface="Arial"/>
                <a:ea typeface="Arial"/>
                <a:cs typeface="Arial"/>
              </a:rPr>
              <a:t>August–November RMSD (°C)</a:t>
            </a:r>
          </a:p>
        </p:txBody>
      </p:sp>
      <p:graphicFrame>
        <p:nvGraphicFramePr>
          <p:cNvPr id="3" name="">
            <a:extLst xmlns:a="http://schemas.openxmlformats.org/drawingml/2006/main">
              <a:ext uri="{FF2B5EF4-FFF2-40B4-BE49-F238E27FC236}">
                <a16:creationId xmlns:a16="http://schemas.microsoft.com/office/drawing/2014/main" id="{299D4107-8E6E-4F27-B6A5-615F5E11C659}"/>
              </a:ext>
            </a:extLst>
          </p:cNvPr>
          <p:cNvGraphicFramePr/>
          <p:nvPr/>
        </p:nvGraphicFramePr>
        <p:xfrm>
          <a:off xmlns:a="http://schemas.openxmlformats.org/drawingml/2006/main" x="571500" y="2143125"/>
          <a:ext xmlns:a="http://schemas.openxmlformats.org/drawingml/2006/main" cx="10668000" cy="2476500"/>
        </p:xfrm>
        <a:graphic xmlns:a="http://schemas.openxmlformats.org/drawingml/2006/main">
          <a:graphicData uri="http://schemas.openxmlformats.org/drawingml/2006/table">
            <a:tbl>
              <a:tblPr/>
              <a:tblGrid>
                <a:gridCol w="5905500"/>
                <a:gridCol w="2381250"/>
                <a:gridCol w="2381250"/>
              </a:tblGrid>
              <a:tr h="619125">
                <a:tc>
                  <a:txBody>
                    <a:bodyPr/>
                    <a:lstStyle/>
                    <a:p>
                      <a:r>
                        <a:rPr sz="2100" b="1">
                          <a:solidFill>
                            <a:srgbClr val="FFFFFF"/>
                          </a:solidFill>
                          <a:latin typeface="Arial"/>
                          <a:ea typeface="Arial"/>
                          <a:cs typeface="Arial"/>
                        </a:rPr>
                        <a:t>Monitoring site</a:t>
                      </a:r>
                    </a:p>
                  </a:txBody>
                  <a:tcPr marL="91440" marR="91440" marT="45720" marB="45720">
                    <a:lnL w="9525">
                      <a:solidFill>
                        <a:srgbClr val="D9E1E5"/>
                      </a:solidFill>
                      <a:prstDash val="solid"/>
                    </a:lnL>
                    <a:lnR w="9525">
                      <a:solidFill>
                        <a:srgbClr val="D9E1E5"/>
                      </a:solidFill>
                      <a:prstDash val="solid"/>
                    </a:lnR>
                    <a:lnT w="9525">
                      <a:solidFill>
                        <a:srgbClr val="D9E1E5"/>
                      </a:solidFill>
                      <a:prstDash val="solid"/>
                    </a:lnT>
                    <a:lnB w="9525">
                      <a:solidFill>
                        <a:srgbClr val="D9E1E5"/>
                      </a:solidFill>
                      <a:prstDash val="solid"/>
                    </a:lnB>
                    <a:solidFill>
                      <a:srgbClr val="152F45"/>
                    </a:solidFill>
                  </a:tcPr>
                </a:tc>
                <a:tc>
                  <a:txBody>
                    <a:bodyPr/>
                    <a:lstStyle/>
                    <a:p>
                      <a:r>
                        <a:rPr sz="2100" b="1">
                          <a:solidFill>
                            <a:srgbClr val="FFFFFF"/>
                          </a:solidFill>
                          <a:latin typeface="Arial"/>
                          <a:ea typeface="Arial"/>
                          <a:cs typeface="Arial"/>
                        </a:rPr>
                        <a:t>2015</a:t>
                      </a:r>
                    </a:p>
                  </a:txBody>
                  <a:tcPr marL="91440" marR="91440" marT="45720" marB="45720">
                    <a:lnR w="9525">
                      <a:solidFill>
                        <a:srgbClr val="D9E1E5"/>
                      </a:solidFill>
                      <a:prstDash val="solid"/>
                    </a:lnR>
                    <a:lnT w="9525">
                      <a:solidFill>
                        <a:srgbClr val="D9E1E5"/>
                      </a:solidFill>
                      <a:prstDash val="solid"/>
                    </a:lnT>
                    <a:lnB w="9525">
                      <a:solidFill>
                        <a:srgbClr val="D9E1E5"/>
                      </a:solidFill>
                      <a:prstDash val="solid"/>
                    </a:lnB>
                    <a:solidFill>
                      <a:srgbClr val="152F45"/>
                    </a:solidFill>
                  </a:tcPr>
                </a:tc>
                <a:tc>
                  <a:txBody>
                    <a:bodyPr/>
                    <a:lstStyle/>
                    <a:p>
                      <a:r>
                        <a:rPr sz="2100" b="1">
                          <a:solidFill>
                            <a:srgbClr val="FFFFFF"/>
                          </a:solidFill>
                          <a:latin typeface="Arial"/>
                          <a:ea typeface="Arial"/>
                          <a:cs typeface="Arial"/>
                        </a:rPr>
                        <a:t>2019</a:t>
                      </a:r>
                    </a:p>
                  </a:txBody>
                  <a:tcPr marL="91440" marR="91440" marT="45720" marB="45720">
                    <a:lnR w="9525">
                      <a:solidFill>
                        <a:srgbClr val="D9E1E5"/>
                      </a:solidFill>
                      <a:prstDash val="solid"/>
                    </a:lnR>
                    <a:lnT w="9525">
                      <a:solidFill>
                        <a:srgbClr val="D9E1E5"/>
                      </a:solidFill>
                      <a:prstDash val="solid"/>
                    </a:lnT>
                    <a:lnB w="9525">
                      <a:solidFill>
                        <a:srgbClr val="D9E1E5"/>
                      </a:solidFill>
                      <a:prstDash val="solid"/>
                    </a:lnB>
                    <a:solidFill>
                      <a:srgbClr val="152F45"/>
                    </a:solidFill>
                  </a:tcPr>
                </a:tc>
              </a:tr>
              <a:tr h="619125">
                <a:tc>
                  <a:txBody>
                    <a:bodyPr/>
                    <a:lstStyle/>
                    <a:p>
                      <a:r>
                        <a:rPr sz="2100" b="0">
                          <a:solidFill>
                            <a:srgbClr val="263C49"/>
                          </a:solidFill>
                          <a:latin typeface="Arial"/>
                          <a:ea typeface="Arial"/>
                          <a:cs typeface="Arial"/>
                        </a:rPr>
                        <a:t>OCC-HAW-001</a:t>
                      </a:r>
                    </a:p>
                  </a:txBody>
                  <a:tcPr marL="91440" marR="91440" marT="45720" marB="45720">
                    <a:lnL w="9525">
                      <a:solidFill>
                        <a:srgbClr val="D9E1E5"/>
                      </a:solidFill>
                      <a:prstDash val="solid"/>
                    </a:lnL>
                    <a:lnR w="9525">
                      <a:solidFill>
                        <a:srgbClr val="D9E1E5"/>
                      </a:solidFill>
                      <a:prstDash val="solid"/>
                    </a:lnR>
                    <a:lnB w="9525">
                      <a:solidFill>
                        <a:srgbClr val="D9E1E5"/>
                      </a:solidFill>
                      <a:prstDash val="solid"/>
                    </a:lnB>
                    <a:solidFill>
                      <a:srgbClr val="FFFFFF"/>
                    </a:solidFill>
                  </a:tcPr>
                </a:tc>
                <a:tc>
                  <a:txBody>
                    <a:bodyPr/>
                    <a:lstStyle/>
                    <a:p>
                      <a:r>
                        <a:rPr sz="2100" b="0">
                          <a:solidFill>
                            <a:srgbClr val="263C49"/>
                          </a:solidFill>
                          <a:latin typeface="Arial"/>
                          <a:ea typeface="Arial"/>
                          <a:cs typeface="Arial"/>
                        </a:rPr>
                        <a:t>0.741</a:t>
                      </a:r>
                    </a:p>
                  </a:txBody>
                  <a:tcPr marL="91440" marR="91440" marT="45720" marB="45720">
                    <a:lnR w="9525">
                      <a:solidFill>
                        <a:srgbClr val="D9E1E5"/>
                      </a:solidFill>
                      <a:prstDash val="solid"/>
                    </a:lnR>
                    <a:lnB w="9525">
                      <a:solidFill>
                        <a:srgbClr val="D9E1E5"/>
                      </a:solidFill>
                      <a:prstDash val="solid"/>
                    </a:lnB>
                    <a:solidFill>
                      <a:srgbClr val="FFFFFF"/>
                    </a:solidFill>
                  </a:tcPr>
                </a:tc>
                <a:tc>
                  <a:txBody>
                    <a:bodyPr/>
                    <a:lstStyle/>
                    <a:p>
                      <a:r>
                        <a:rPr sz="2100" b="0">
                          <a:solidFill>
                            <a:srgbClr val="263C49"/>
                          </a:solidFill>
                          <a:latin typeface="Arial"/>
                          <a:ea typeface="Arial"/>
                          <a:cs typeface="Arial"/>
                        </a:rPr>
                        <a:t>0.334</a:t>
                      </a:r>
                    </a:p>
                  </a:txBody>
                  <a:tcPr marL="91440" marR="91440" marT="45720" marB="45720">
                    <a:lnR w="9525">
                      <a:solidFill>
                        <a:srgbClr val="D9E1E5"/>
                      </a:solidFill>
                      <a:prstDash val="solid"/>
                    </a:lnR>
                    <a:lnB w="9525">
                      <a:solidFill>
                        <a:srgbClr val="D9E1E5"/>
                      </a:solidFill>
                      <a:prstDash val="solid"/>
                    </a:lnB>
                    <a:solidFill>
                      <a:srgbClr val="FFFFFF"/>
                    </a:solidFill>
                  </a:tcPr>
                </a:tc>
              </a:tr>
              <a:tr h="619125">
                <a:tc>
                  <a:txBody>
                    <a:bodyPr/>
                    <a:lstStyle/>
                    <a:p>
                      <a:r>
                        <a:rPr sz="2100" b="0">
                          <a:solidFill>
                            <a:srgbClr val="263C49"/>
                          </a:solidFill>
                          <a:latin typeface="Arial"/>
                          <a:ea typeface="Arial"/>
                          <a:cs typeface="Arial"/>
                        </a:rPr>
                        <a:t>OCC-HAW-002</a:t>
                      </a:r>
                    </a:p>
                  </a:txBody>
                  <a:tcPr marL="91440" marR="91440" marT="45720" marB="45720">
                    <a:lnL w="9525">
                      <a:solidFill>
                        <a:srgbClr val="D9E1E5"/>
                      </a:solidFill>
                      <a:prstDash val="solid"/>
                    </a:lnL>
                    <a:lnR w="9525">
                      <a:solidFill>
                        <a:srgbClr val="D9E1E5"/>
                      </a:solidFill>
                      <a:prstDash val="solid"/>
                    </a:lnR>
                    <a:lnB w="9525">
                      <a:solidFill>
                        <a:srgbClr val="D9E1E5"/>
                      </a:solidFill>
                      <a:prstDash val="solid"/>
                    </a:lnB>
                    <a:solidFill>
                      <a:srgbClr val="F0F5F7"/>
                    </a:solidFill>
                  </a:tcPr>
                </a:tc>
                <a:tc>
                  <a:txBody>
                    <a:bodyPr/>
                    <a:lstStyle/>
                    <a:p>
                      <a:r>
                        <a:rPr sz="2100" b="0">
                          <a:solidFill>
                            <a:srgbClr val="263C49"/>
                          </a:solidFill>
                          <a:latin typeface="Arial"/>
                          <a:ea typeface="Arial"/>
                          <a:cs typeface="Arial"/>
                        </a:rPr>
                        <a:t>0.566</a:t>
                      </a:r>
                    </a:p>
                  </a:txBody>
                  <a:tcPr marL="91440" marR="91440" marT="45720" marB="45720">
                    <a:lnR w="9525">
                      <a:solidFill>
                        <a:srgbClr val="D9E1E5"/>
                      </a:solidFill>
                      <a:prstDash val="solid"/>
                    </a:lnR>
                    <a:lnB w="9525">
                      <a:solidFill>
                        <a:srgbClr val="D9E1E5"/>
                      </a:solidFill>
                      <a:prstDash val="solid"/>
                    </a:lnB>
                    <a:solidFill>
                      <a:srgbClr val="F0F5F7"/>
                    </a:solidFill>
                  </a:tcPr>
                </a:tc>
                <a:tc>
                  <a:txBody>
                    <a:bodyPr/>
                    <a:lstStyle/>
                    <a:p>
                      <a:r>
                        <a:rPr sz="2100" b="0">
                          <a:solidFill>
                            <a:srgbClr val="263C49"/>
                          </a:solidFill>
                          <a:latin typeface="Arial"/>
                          <a:ea typeface="Arial"/>
                          <a:cs typeface="Arial"/>
                        </a:rPr>
                        <a:t>0.290</a:t>
                      </a:r>
                    </a:p>
                  </a:txBody>
                  <a:tcPr marL="91440" marR="91440" marT="45720" marB="45720">
                    <a:lnR w="9525">
                      <a:solidFill>
                        <a:srgbClr val="D9E1E5"/>
                      </a:solidFill>
                      <a:prstDash val="solid"/>
                    </a:lnR>
                    <a:lnB w="9525">
                      <a:solidFill>
                        <a:srgbClr val="D9E1E5"/>
                      </a:solidFill>
                      <a:prstDash val="solid"/>
                    </a:lnB>
                    <a:solidFill>
                      <a:srgbClr val="F0F5F7"/>
                    </a:solidFill>
                  </a:tcPr>
                </a:tc>
              </a:tr>
              <a:tr h="619125">
                <a:tc>
                  <a:txBody>
                    <a:bodyPr/>
                    <a:lstStyle/>
                    <a:p>
                      <a:r>
                        <a:rPr sz="2100" b="0">
                          <a:solidFill>
                            <a:srgbClr val="263C49"/>
                          </a:solidFill>
                          <a:latin typeface="Arial"/>
                          <a:ea typeface="Arial"/>
                          <a:cs typeface="Arial"/>
                        </a:rPr>
                        <a:t>OCC-HAW-009</a:t>
                      </a:r>
                    </a:p>
                  </a:txBody>
                  <a:tcPr marL="91440" marR="91440" marT="45720" marB="45720">
                    <a:lnL w="9525">
                      <a:solidFill>
                        <a:srgbClr val="D9E1E5"/>
                      </a:solidFill>
                      <a:prstDash val="solid"/>
                    </a:lnL>
                    <a:lnR w="9525">
                      <a:solidFill>
                        <a:srgbClr val="D9E1E5"/>
                      </a:solidFill>
                      <a:prstDash val="solid"/>
                    </a:lnR>
                    <a:lnB w="9525">
                      <a:solidFill>
                        <a:srgbClr val="D9E1E5"/>
                      </a:solidFill>
                      <a:prstDash val="solid"/>
                    </a:lnB>
                    <a:solidFill>
                      <a:srgbClr val="FFFFFF"/>
                    </a:solidFill>
                  </a:tcPr>
                </a:tc>
                <a:tc>
                  <a:txBody>
                    <a:bodyPr/>
                    <a:lstStyle/>
                    <a:p>
                      <a:r>
                        <a:rPr sz="2100" b="0">
                          <a:solidFill>
                            <a:srgbClr val="263C49"/>
                          </a:solidFill>
                          <a:latin typeface="Arial"/>
                          <a:ea typeface="Arial"/>
                          <a:cs typeface="Arial"/>
                        </a:rPr>
                        <a:t>0.317</a:t>
                      </a:r>
                    </a:p>
                  </a:txBody>
                  <a:tcPr marL="91440" marR="91440" marT="45720" marB="45720">
                    <a:lnR w="9525">
                      <a:solidFill>
                        <a:srgbClr val="D9E1E5"/>
                      </a:solidFill>
                      <a:prstDash val="solid"/>
                    </a:lnR>
                    <a:lnB w="9525">
                      <a:solidFill>
                        <a:srgbClr val="D9E1E5"/>
                      </a:solidFill>
                      <a:prstDash val="solid"/>
                    </a:lnB>
                    <a:solidFill>
                      <a:srgbClr val="FFFFFF"/>
                    </a:solidFill>
                  </a:tcPr>
                </a:tc>
                <a:tc>
                  <a:txBody>
                    <a:bodyPr/>
                    <a:lstStyle/>
                    <a:p>
                      <a:r>
                        <a:rPr sz="2100" b="0">
                          <a:solidFill>
                            <a:srgbClr val="263C49"/>
                          </a:solidFill>
                          <a:latin typeface="Arial"/>
                          <a:ea typeface="Arial"/>
                          <a:cs typeface="Arial"/>
                        </a:rPr>
                        <a:t>0.210</a:t>
                      </a:r>
                    </a:p>
                  </a:txBody>
                  <a:tcPr marL="91440" marR="91440" marT="45720" marB="45720">
                    <a:lnR w="9525">
                      <a:solidFill>
                        <a:srgbClr val="D9E1E5"/>
                      </a:solidFill>
                      <a:prstDash val="solid"/>
                    </a:lnR>
                    <a:lnB w="9525">
                      <a:solidFill>
                        <a:srgbClr val="D9E1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C9A55ED-079F-4018-AD49-B44632CED32F}"/>
              </a:ext>
            </a:extLst>
          </p:cNvPr>
          <p:cNvSpPr>
            <a:spLocks xmlns:a="http://schemas.openxmlformats.org/drawingml/2006/main" noGrp="1"/>
          </p:cNvSpPr>
          <p:nvPr/>
        </p:nvSpPr>
        <p:spPr>
          <a:xfrm xmlns:a="http://schemas.openxmlformats.org/drawingml/2006/main">
            <a:off x="571500" y="50482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C49"/>
                </a:solidFill>
                <a:latin typeface="Arial"/>
                <a:ea typeface="Arial"/>
                <a:cs typeface="Arial"/>
              </a:defRPr>
            </a:defPPr>
          </a:lstStyle>
          <a:p xmlns:a="http://schemas.openxmlformats.org/drawingml/2006/main">
            <a:pPr>
              <a:defRPr sz="2250" b="0">
                <a:solidFill>
                  <a:srgbClr val="263C49"/>
                </a:solidFill>
                <a:latin typeface="Arial"/>
                <a:ea typeface="Arial"/>
                <a:cs typeface="Arial"/>
              </a:defRPr>
            </a:pPr>
            <a:r>
              <a:rPr sz="2250" b="0">
                <a:solidFill>
                  <a:srgbClr val="263C49"/>
                </a:solidFill>
                <a:latin typeface="Arial"/>
                <a:ea typeface="Arial"/>
                <a:cs typeface="Arial"/>
              </a:rPr>
              <a:t>Satellite and nighttime logger temperatures agreed more closely in 2019 at these sites.</a:t>
            </a:r>
          </a:p>
        </p:txBody>
      </p:sp>
      <p:sp>
        <p:nvSpPr>
          <p:cNvPr id="5" name="">
            <a:extLst xmlns:a="http://schemas.openxmlformats.org/drawingml/2006/main">
              <a:ext uri="{FF2B5EF4-FFF2-40B4-BE49-F238E27FC236}">
                <a16:creationId xmlns:a16="http://schemas.microsoft.com/office/drawing/2014/main" id="{8368FEA0-3478-4DB9-BC6C-A7241A272640}"/>
              </a:ext>
            </a:extLst>
          </p:cNvPr>
          <p:cNvSpPr>
            <a:spLocks xmlns:a="http://schemas.openxmlformats.org/drawingml/2006/main" noGrp="1"/>
          </p:cNvSpPr>
          <p:nvPr/>
        </p:nvSpPr>
        <p:spPr>
          <a:xfrm xmlns:a="http://schemas.openxmlformats.org/drawingml/2006/main">
            <a:off x="571500" y="6096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C49"/>
                </a:solidFill>
                <a:latin typeface="Arial"/>
                <a:ea typeface="Arial"/>
                <a:cs typeface="Arial"/>
              </a:defRPr>
            </a:defPPr>
          </a:lstStyle>
          <a:p xmlns:a="http://schemas.openxmlformats.org/drawingml/2006/main">
            <a:pPr>
              <a:defRPr sz="1800" b="0">
                <a:solidFill>
                  <a:srgbClr val="263C49"/>
                </a:solidFill>
                <a:latin typeface="Arial"/>
                <a:ea typeface="Arial"/>
                <a:cs typeface="Arial"/>
              </a:defRPr>
            </a:pPr>
            <a:r>
              <a:rPr sz="1800" b="0">
                <a:solidFill>
                  <a:srgbClr val="263C49"/>
                </a:solidFill>
                <a:latin typeface="Arial"/>
                <a:ea typeface="Arial"/>
                <a:cs typeface="Arial"/>
              </a:rPr>
              <a:t>The small monitoring network cannot isolate a causal depth effect.</a:t>
            </a:r>
          </a:p>
        </p:txBody>
      </p:sp>
    </p:spTree>
    <p:extLst>
      <p:ext uri="{BB962C8B-B14F-4D97-AF65-F5344CB8AC3E}">
        <p14:creationId xmlns:p14="http://schemas.microsoft.com/office/powerpoint/2010/main" val="5865404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8F21B1-4044-4F22-9EA3-64D1AA9C2E5A}"/>
              </a:ext>
            </a:extLst>
          </p:cNvPr>
          <p:cNvSpPr>
            <a:spLocks xmlns:a="http://schemas.openxmlformats.org/drawingml/2006/main" noGrp="1"/>
          </p:cNvSpPr>
          <p:nvPr/>
        </p:nvSpPr>
        <p:spPr>
          <a:xfrm xmlns:a="http://schemas.openxmlformats.org/drawingml/2006/main">
            <a:off x="514350" y="361950"/>
            <a:ext cx="1114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F45"/>
                </a:solidFill>
                <a:latin typeface="Arial"/>
                <a:ea typeface="Arial"/>
                <a:cs typeface="Arial"/>
              </a:defRPr>
            </a:defPPr>
          </a:lstStyle>
          <a:p xmlns:a="http://schemas.openxmlformats.org/drawingml/2006/main">
            <a:pPr>
              <a:defRPr sz="3150" b="1">
                <a:solidFill>
                  <a:srgbClr val="152F45"/>
                </a:solidFill>
                <a:latin typeface="Arial"/>
                <a:ea typeface="Arial"/>
                <a:cs typeface="Arial"/>
              </a:defRPr>
            </a:pPr>
            <a:r>
              <a:rPr sz="3150" b="1">
                <a:solidFill>
                  <a:srgbClr val="152F45"/>
                </a:solidFill>
                <a:latin typeface="Arial"/>
                <a:ea typeface="Arial"/>
                <a:cs typeface="Arial"/>
              </a:rPr>
              <a:t>Persistence wins the forecast test overall</a:t>
            </a:r>
          </a:p>
        </p:txBody>
      </p:sp>
      <p:graphicFrame>
        <p:nvGraphicFramePr>
          <p:cNvPr id="2" name="Chart">
            <a:extLst xmlns:a="http://schemas.openxmlformats.org/drawingml/2006/main">
              <a:ext uri="{FF2B5EF4-FFF2-40B4-BE49-F238E27FC236}">
                <a16:creationId xmlns:a16="http://schemas.microsoft.com/office/drawing/2014/main" id="{B2795EFE-2FBD-41BD-BE88-F51C03436B88}"/>
              </a:ext>
            </a:extLst>
          </p:cNvPr>
          <p:cNvGraphicFramePr/>
          <p:nvPr/>
        </p:nvGraphicFramePr>
        <p:xfrm>
          <a:off xmlns:a="http://schemas.openxmlformats.org/drawingml/2006/main" x="571500" y="1619250"/>
          <a:ext xmlns:a="http://schemas.openxmlformats.org/drawingml/2006/main" cx="6858000" cy="4381500"/>
        </p:xfrm>
        <a:graphic xmlns:a="http://schemas.openxmlformats.org/drawingml/2006/main">
          <a:graphicData uri="http://schemas.openxmlformats.org/drawingml/2006/chart">
            <c:chart xmlns:r="http://schemas.openxmlformats.org/officeDocument/2006/relationships" xmlns:c="http://schemas.openxmlformats.org/drawingml/2006/chart" r:id="Rde152e48b4c5453c"/>
          </a:graphicData>
        </a:graphic>
      </p:graphicFrame>
      <p:sp>
        <p:nvSpPr>
          <p:cNvPr id="3" name="">
            <a:extLst xmlns:a="http://schemas.openxmlformats.org/drawingml/2006/main">
              <a:ext uri="{FF2B5EF4-FFF2-40B4-BE49-F238E27FC236}">
                <a16:creationId xmlns:a16="http://schemas.microsoft.com/office/drawing/2014/main" id="{859E2CE2-82E2-4F94-A53A-CB242A836069}"/>
              </a:ext>
            </a:extLst>
          </p:cNvPr>
          <p:cNvSpPr>
            <a:spLocks xmlns:a="http://schemas.openxmlformats.org/drawingml/2006/main" noGrp="1"/>
          </p:cNvSpPr>
          <p:nvPr/>
        </p:nvSpPr>
        <p:spPr>
          <a:xfrm xmlns:a="http://schemas.openxmlformats.org/drawingml/2006/main">
            <a:off x="666750" y="60960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C49"/>
                </a:solidFill>
                <a:latin typeface="Arial"/>
                <a:ea typeface="Arial"/>
                <a:cs typeface="Arial"/>
              </a:defRPr>
            </a:defPPr>
          </a:lstStyle>
          <a:p xmlns:a="http://schemas.openxmlformats.org/drawingml/2006/main">
            <a:pPr>
              <a:defRPr sz="1800" b="0">
                <a:solidFill>
                  <a:srgbClr val="263C49"/>
                </a:solidFill>
                <a:latin typeface="Arial"/>
                <a:ea typeface="Arial"/>
                <a:cs typeface="Arial"/>
              </a:defRPr>
            </a:pPr>
            <a:r>
              <a:rPr sz="1800" b="0">
                <a:solidFill>
                  <a:srgbClr val="263C49"/>
                </a:solidFill>
                <a:latin typeface="Arial"/>
                <a:ea typeface="Arial"/>
                <a:cs typeface="Arial"/>
              </a:rPr>
              <a:t>Seven-day SST forecast MAE (°C)</a:t>
            </a:r>
          </a:p>
        </p:txBody>
      </p:sp>
      <p:sp>
        <p:nvSpPr>
          <p:cNvPr id="4" name="">
            <a:extLst xmlns:a="http://schemas.openxmlformats.org/drawingml/2006/main">
              <a:ext uri="{FF2B5EF4-FFF2-40B4-BE49-F238E27FC236}">
                <a16:creationId xmlns:a16="http://schemas.microsoft.com/office/drawing/2014/main" id="{7057B7CF-6415-4110-B9A3-2850828E66FF}"/>
              </a:ext>
            </a:extLst>
          </p:cNvPr>
          <p:cNvSpPr>
            <a:spLocks xmlns:a="http://schemas.openxmlformats.org/drawingml/2006/main" noGrp="1"/>
          </p:cNvSpPr>
          <p:nvPr/>
        </p:nvSpPr>
        <p:spPr>
          <a:xfrm xmlns:a="http://schemas.openxmlformats.org/drawingml/2006/main">
            <a:off x="8048625" y="18097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7D91"/>
                </a:solidFill>
                <a:latin typeface="Arial"/>
                <a:ea typeface="Arial"/>
                <a:cs typeface="Arial"/>
              </a:defRPr>
            </a:defPPr>
          </a:lstStyle>
          <a:p xmlns:a="http://schemas.openxmlformats.org/drawingml/2006/main">
            <a:pPr>
              <a:defRPr sz="2325" b="1">
                <a:solidFill>
                  <a:srgbClr val="167D91"/>
                </a:solidFill>
                <a:latin typeface="Arial"/>
                <a:ea typeface="Arial"/>
                <a:cs typeface="Arial"/>
              </a:defRPr>
            </a:pPr>
            <a:r>
              <a:rPr sz="2325" b="1">
                <a:solidFill>
                  <a:srgbClr val="167D91"/>
                </a:solidFill>
                <a:latin typeface="Arial"/>
                <a:ea typeface="Arial"/>
                <a:cs typeface="Arial"/>
              </a:rPr>
              <a:t>Held-out test</a:t>
            </a:r>
          </a:p>
        </p:txBody>
      </p:sp>
      <p:sp>
        <p:nvSpPr>
          <p:cNvPr id="5" name="">
            <a:extLst xmlns:a="http://schemas.openxmlformats.org/drawingml/2006/main">
              <a:ext uri="{FF2B5EF4-FFF2-40B4-BE49-F238E27FC236}">
                <a16:creationId xmlns:a16="http://schemas.microsoft.com/office/drawing/2014/main" id="{CF24B670-CB0C-49F1-999B-3BCBF143CFE7}"/>
              </a:ext>
            </a:extLst>
          </p:cNvPr>
          <p:cNvSpPr>
            <a:spLocks xmlns:a="http://schemas.openxmlformats.org/drawingml/2006/main" noGrp="1"/>
          </p:cNvSpPr>
          <p:nvPr/>
        </p:nvSpPr>
        <p:spPr>
          <a:xfrm xmlns:a="http://schemas.openxmlformats.org/drawingml/2006/main">
            <a:off x="8048625" y="2476500"/>
            <a:ext cx="3476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C49"/>
                </a:solidFill>
                <a:latin typeface="Arial"/>
                <a:ea typeface="Arial"/>
                <a:cs typeface="Arial"/>
              </a:defRPr>
            </a:defPPr>
          </a:lstStyle>
          <a:p xmlns:a="http://schemas.openxmlformats.org/drawingml/2006/main">
            <a:pPr>
              <a:defRPr sz="2250" b="0">
                <a:solidFill>
                  <a:srgbClr val="263C49"/>
                </a:solidFill>
                <a:latin typeface="Arial"/>
                <a:ea typeface="Arial"/>
                <a:cs typeface="Arial"/>
              </a:defRPr>
            </a:pPr>
            <a:r>
              <a:rPr sz="2250" b="0">
                <a:solidFill>
                  <a:srgbClr val="263C49"/>
                </a:solidFill>
                <a:latin typeface="Arial"/>
                <a:ea typeface="Arial"/>
                <a:cs typeface="Arial"/>
              </a:rPr>
              <a:t>2015–2025</a:t>
            </a:r>
          </a:p>
          <a:p xmlns:a="http://schemas.openxmlformats.org/drawingml/2006/main">
            <a:pPr>
              <a:defRPr sz="2250" b="0">
                <a:solidFill>
                  <a:srgbClr val="263C49"/>
                </a:solidFill>
                <a:latin typeface="Arial"/>
                <a:ea typeface="Arial"/>
                <a:cs typeface="Arial"/>
              </a:defRPr>
            </a:pPr>
            <a:r>
              <a:rPr sz="2250" b="0">
                <a:solidFill>
                  <a:srgbClr val="263C49"/>
                </a:solidFill>
                <a:latin typeface="Arial"/>
                <a:ea typeface="Arial"/>
                <a:cs typeface="Arial"/>
              </a:rPr>
              <a:t>11,754 forecasts</a:t>
            </a:r>
          </a:p>
          <a:p xmlns:a="http://schemas.openxmlformats.org/drawingml/2006/main">
            <a:pPr>
              <a:defRPr sz="2250" b="0">
                <a:solidFill>
                  <a:srgbClr val="263C49"/>
                </a:solidFill>
                <a:latin typeface="Arial"/>
                <a:ea typeface="Arial"/>
                <a:cs typeface="Arial"/>
              </a:defRPr>
            </a:pPr>
            <a:r>
              <a:rPr sz="2250" b="0">
                <a:solidFill>
                  <a:srgbClr val="263C49"/>
                </a:solidFill>
                <a:latin typeface="Arial"/>
                <a:ea typeface="Arial"/>
                <a:cs typeface="Arial"/>
              </a:rPr>
              <a:t>3 selected cells</a:t>
            </a:r>
          </a:p>
        </p:txBody>
      </p:sp>
      <p:sp>
        <p:nvSpPr>
          <p:cNvPr id="6" name="">
            <a:extLst xmlns:a="http://schemas.openxmlformats.org/drawingml/2006/main">
              <a:ext uri="{FF2B5EF4-FFF2-40B4-BE49-F238E27FC236}">
                <a16:creationId xmlns:a16="http://schemas.microsoft.com/office/drawing/2014/main" id="{0D760CD9-D380-4482-ABB5-1D97DD1CF991}"/>
              </a:ext>
            </a:extLst>
          </p:cNvPr>
          <p:cNvSpPr>
            <a:spLocks xmlns:a="http://schemas.openxmlformats.org/drawingml/2006/main" noGrp="1"/>
          </p:cNvSpPr>
          <p:nvPr/>
        </p:nvSpPr>
        <p:spPr>
          <a:xfrm xmlns:a="http://schemas.openxmlformats.org/drawingml/2006/main">
            <a:off x="8048625" y="4238625"/>
            <a:ext cx="3476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C49"/>
                </a:solidFill>
                <a:latin typeface="Arial"/>
                <a:ea typeface="Arial"/>
                <a:cs typeface="Arial"/>
              </a:defRPr>
            </a:defPPr>
          </a:lstStyle>
          <a:p xmlns:a="http://schemas.openxmlformats.org/drawingml/2006/main">
            <a:pPr>
              <a:defRPr sz="2100" b="0">
                <a:solidFill>
                  <a:srgbClr val="263C49"/>
                </a:solidFill>
                <a:latin typeface="Arial"/>
                <a:ea typeface="Arial"/>
                <a:cs typeface="Arial"/>
              </a:defRPr>
            </a:pPr>
            <a:r>
              <a:rPr sz="2100" b="0">
                <a:solidFill>
                  <a:srgbClr val="263C49"/>
                </a:solidFill>
                <a:latin typeface="Arial"/>
                <a:ea typeface="Arial"/>
                <a:cs typeface="Arial"/>
              </a:rPr>
              <a:t>RF skill varied by cell and year. Strong heat-stress years exposed larger forecast errors.</a:t>
            </a:r>
          </a:p>
        </p:txBody>
      </p:sp>
    </p:spTree>
    <p:extLst>
      <p:ext uri="{BB962C8B-B14F-4D97-AF65-F5344CB8AC3E}">
        <p14:creationId xmlns:p14="http://schemas.microsoft.com/office/powerpoint/2010/main" val="2784499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25012E-6CB7-4D58-A5DE-7349D3A51884}"/>
              </a:ext>
            </a:extLst>
          </p:cNvPr>
          <p:cNvSpPr>
            <a:spLocks xmlns:a="http://schemas.openxmlformats.org/drawingml/2006/main" noGrp="1"/>
          </p:cNvSpPr>
          <p:nvPr/>
        </p:nvSpPr>
        <p:spPr>
          <a:xfrm xmlns:a="http://schemas.openxmlformats.org/drawingml/2006/main">
            <a:off x="514350" y="361950"/>
            <a:ext cx="1114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F45"/>
                </a:solidFill>
                <a:latin typeface="Arial"/>
                <a:ea typeface="Arial"/>
                <a:cs typeface="Arial"/>
              </a:defRPr>
            </a:defPPr>
          </a:lstStyle>
          <a:p xmlns:a="http://schemas.openxmlformats.org/drawingml/2006/main">
            <a:pPr>
              <a:defRPr sz="3150" b="1">
                <a:solidFill>
                  <a:srgbClr val="152F45"/>
                </a:solidFill>
                <a:latin typeface="Arial"/>
                <a:ea typeface="Arial"/>
                <a:cs typeface="Arial"/>
              </a:defRPr>
            </a:pPr>
            <a:r>
              <a:rPr sz="3150" b="1">
                <a:solidFill>
                  <a:srgbClr val="152F45"/>
                </a:solidFill>
                <a:latin typeface="Arial"/>
                <a:ea typeface="Arial"/>
                <a:cs typeface="Arial"/>
              </a:rPr>
              <a:t>What the results support</a:t>
            </a:r>
          </a:p>
        </p:txBody>
      </p:sp>
      <p:sp>
        <p:nvSpPr>
          <p:cNvPr id="2" name="">
            <a:extLst xmlns:a="http://schemas.openxmlformats.org/drawingml/2006/main">
              <a:ext uri="{FF2B5EF4-FFF2-40B4-BE49-F238E27FC236}">
                <a16:creationId xmlns:a16="http://schemas.microsoft.com/office/drawing/2014/main" id="{BE5676ED-8826-4AFB-B7B3-0E89A667C266}"/>
              </a:ext>
            </a:extLst>
          </p:cNvPr>
          <p:cNvSpPr>
            <a:spLocks xmlns:a="http://schemas.openxmlformats.org/drawingml/2006/main" noGrp="1"/>
          </p:cNvSpPr>
          <p:nvPr/>
        </p:nvSpPr>
        <p:spPr>
          <a:xfrm xmlns:a="http://schemas.openxmlformats.org/drawingml/2006/main">
            <a:off x="571500" y="1524000"/>
            <a:ext cx="628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C49"/>
                </a:solidFill>
                <a:latin typeface="Arial"/>
                <a:ea typeface="Arial"/>
                <a:cs typeface="Arial"/>
              </a:defRPr>
            </a:defPPr>
          </a:lstStyle>
          <a:p xmlns:a="http://schemas.openxmlformats.org/drawingml/2006/main">
            <a:pPr>
              <a:defRPr sz="2250" b="0">
                <a:solidFill>
                  <a:srgbClr val="263C49"/>
                </a:solidFill>
                <a:latin typeface="Arial"/>
                <a:ea typeface="Arial"/>
                <a:cs typeface="Arial"/>
              </a:defRPr>
            </a:pPr>
            <a:r>
              <a:rPr sz="2250" b="0">
                <a:solidFill>
                  <a:srgbClr val="263C49"/>
                </a:solidFill>
                <a:latin typeface="Arial"/>
                <a:ea typeface="Arial"/>
                <a:cs typeface="Arial"/>
              </a:rPr>
              <a:t>Heat duration matters alongside temperature. The 2015–2019 contrast depends on the metric.</a:t>
            </a:r>
          </a:p>
        </p:txBody>
      </p:sp>
      <p:sp>
        <p:nvSpPr>
          <p:cNvPr id="3" name="">
            <a:extLst xmlns:a="http://schemas.openxmlformats.org/drawingml/2006/main">
              <a:ext uri="{FF2B5EF4-FFF2-40B4-BE49-F238E27FC236}">
                <a16:creationId xmlns:a16="http://schemas.microsoft.com/office/drawing/2014/main" id="{41320579-E9E0-4A7A-8E63-F59E62DE1E40}"/>
              </a:ext>
            </a:extLst>
          </p:cNvPr>
          <p:cNvSpPr>
            <a:spLocks xmlns:a="http://schemas.openxmlformats.org/drawingml/2006/main" noGrp="1"/>
          </p:cNvSpPr>
          <p:nvPr/>
        </p:nvSpPr>
        <p:spPr>
          <a:xfrm xmlns:a="http://schemas.openxmlformats.org/drawingml/2006/main">
            <a:off x="571500" y="2857500"/>
            <a:ext cx="628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C49"/>
                </a:solidFill>
                <a:latin typeface="Arial"/>
                <a:ea typeface="Arial"/>
                <a:cs typeface="Arial"/>
              </a:defRPr>
            </a:defPPr>
          </a:lstStyle>
          <a:p xmlns:a="http://schemas.openxmlformats.org/drawingml/2006/main">
            <a:pPr>
              <a:defRPr sz="2250" b="0">
                <a:solidFill>
                  <a:srgbClr val="263C49"/>
                </a:solidFill>
                <a:latin typeface="Arial"/>
                <a:ea typeface="Arial"/>
                <a:cs typeface="Arial"/>
              </a:defRPr>
            </a:pPr>
            <a:r>
              <a:rPr sz="2250" b="0">
                <a:solidFill>
                  <a:srgbClr val="263C49"/>
                </a:solidFill>
                <a:latin typeface="Arial"/>
                <a:ea typeface="Arial"/>
                <a:cs typeface="Arial"/>
              </a:rPr>
              <a:t>Local loggers help interpret satellite records. Monitoring coverage limits regional conclusions.</a:t>
            </a:r>
          </a:p>
        </p:txBody>
      </p:sp>
      <p:sp>
        <p:nvSpPr>
          <p:cNvPr id="4" name="">
            <a:extLst xmlns:a="http://schemas.openxmlformats.org/drawingml/2006/main">
              <a:ext uri="{FF2B5EF4-FFF2-40B4-BE49-F238E27FC236}">
                <a16:creationId xmlns:a16="http://schemas.microsoft.com/office/drawing/2014/main" id="{9B72B89E-050F-41F7-92F8-060BC92693D9}"/>
              </a:ext>
            </a:extLst>
          </p:cNvPr>
          <p:cNvSpPr>
            <a:spLocks xmlns:a="http://schemas.openxmlformats.org/drawingml/2006/main" noGrp="1"/>
          </p:cNvSpPr>
          <p:nvPr/>
        </p:nvSpPr>
        <p:spPr>
          <a:xfrm xmlns:a="http://schemas.openxmlformats.org/drawingml/2006/main">
            <a:off x="571500" y="4191000"/>
            <a:ext cx="6286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C49"/>
                </a:solidFill>
                <a:latin typeface="Arial"/>
                <a:ea typeface="Arial"/>
                <a:cs typeface="Arial"/>
              </a:defRPr>
            </a:defPPr>
          </a:lstStyle>
          <a:p xmlns:a="http://schemas.openxmlformats.org/drawingml/2006/main">
            <a:pPr>
              <a:defRPr sz="2250" b="0">
                <a:solidFill>
                  <a:srgbClr val="263C49"/>
                </a:solidFill>
                <a:latin typeface="Arial"/>
                <a:ea typeface="Arial"/>
                <a:cs typeface="Arial"/>
              </a:defRPr>
            </a:pPr>
            <a:r>
              <a:rPr sz="2250" b="0">
                <a:solidFill>
                  <a:srgbClr val="263C49"/>
                </a:solidFill>
                <a:latin typeface="Arial"/>
                <a:ea typeface="Arial"/>
                <a:cs typeface="Arial"/>
              </a:rPr>
              <a:t>A simple baseline remains essential. Future work could test anomaly-focused models and transfer to Florida.</a:t>
            </a:r>
          </a:p>
        </p:txBody>
      </p:sp>
      <p:sp>
        <p:nvSpPr>
          <p:cNvPr id="5" name="">
            <a:extLst xmlns:a="http://schemas.openxmlformats.org/drawingml/2006/main">
              <a:ext uri="{FF2B5EF4-FFF2-40B4-BE49-F238E27FC236}">
                <a16:creationId xmlns:a16="http://schemas.microsoft.com/office/drawing/2014/main" id="{DF864F22-5A70-4421-8FD6-39ECCD277BE1}"/>
              </a:ext>
            </a:extLst>
          </p:cNvPr>
          <p:cNvSpPr>
            <a:spLocks xmlns:a="http://schemas.openxmlformats.org/drawingml/2006/main" noGrp="1"/>
          </p:cNvSpPr>
          <p:nvPr/>
        </p:nvSpPr>
        <p:spPr>
          <a:xfrm xmlns:a="http://schemas.openxmlformats.org/drawingml/2006/main">
            <a:off x="571500" y="58102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67D91"/>
                </a:solidFill>
                <a:latin typeface="Arial"/>
                <a:ea typeface="Arial"/>
                <a:cs typeface="Arial"/>
              </a:defRPr>
            </a:defPPr>
          </a:lstStyle>
          <a:p xmlns:a="http://schemas.openxmlformats.org/drawingml/2006/main">
            <a:pPr>
              <a:defRPr sz="1800" b="0">
                <a:solidFill>
                  <a:srgbClr val="167D91"/>
                </a:solidFill>
                <a:latin typeface="Arial"/>
                <a:ea typeface="Arial"/>
                <a:cs typeface="Arial"/>
              </a:defRPr>
            </a:pPr>
            <a:r>
              <a:rPr sz="1800" b="0">
                <a:solidFill>
                  <a:srgbClr val="167D91"/>
                </a:solidFill>
                <a:latin typeface="Arial"/>
                <a:ea typeface="Arial"/>
                <a:cs typeface="Arial"/>
              </a:rPr>
              <a:t>Process log and Python notebook</a:t>
            </a:r>
          </a:p>
          <a:p xmlns:a="http://schemas.openxmlformats.org/drawingml/2006/main">
            <a:pPr>
              <a:defRPr sz="1800" b="0">
                <a:solidFill>
                  <a:srgbClr val="167D91"/>
                </a:solidFill>
                <a:latin typeface="Arial"/>
                <a:ea typeface="Arial"/>
                <a:cs typeface="Arial"/>
              </a:defRPr>
            </a:pPr>
            <a:r>
              <a:rPr sz="1800" b="0">
                <a:solidFill>
                  <a:srgbClr val="167D91"/>
                </a:solidFill>
                <a:latin typeface="Arial"/>
                <a:ea typeface="Arial"/>
                <a:cs typeface="Arial"/>
              </a:rPr>
              <a:t>github.com/drwbkr1/West-Hawaii-Heat-Stress-ASM540</a:t>
            </a:r>
          </a:p>
        </p:txBody>
      </p:sp>
      <p:pic>
        <p:nvPicPr>
          <p:cNvPr id="6" name="">
            <a:extLst xmlns:a="http://schemas.openxmlformats.org/drawingml/2006/main">
              <a:ext uri="{FF2B5EF4-FFF2-40B4-BE49-F238E27FC236}">
                <a16:creationId xmlns:a16="http://schemas.microsoft.com/office/drawing/2014/main" id="{8CE4DC8D-C4CA-4C77-9ADE-B1070BB17FEB}"/>
              </a:ext>
            </a:extLst>
          </p:cNvPr>
          <p:cNvPicPr>
            <a:picLocks xmlns:a="http://schemas.openxmlformats.org/drawingml/2006/main" noChangeAspect="1"/>
          </p:cNvPicPr>
          <p:nvPr/>
        </p:nvPicPr>
        <p:blipFill>
          <a:blip xmlns:r="http://schemas.openxmlformats.org/officeDocument/2006/relationships" xmlns:a="http://schemas.openxmlformats.org/drawingml/2006/main" r:embed="R34a14000ff234b83"/>
          <a:stretch xmlns:a="http://schemas.openxmlformats.org/drawingml/2006/main"/>
        </p:blipFill>
        <p:spPr>
          <a:xfrm xmlns:a="http://schemas.openxmlformats.org/drawingml/2006/main">
            <a:off x="7334250" y="1706923"/>
            <a:ext cx="4333875" cy="3348903"/>
          </a:xfrm>
          <a:prstGeom xmlns:a="http://schemas.openxmlformats.org/drawingml/2006/main" prst="rect">
            <a:avLst/>
          </a:prstGeom>
        </p:spPr>
      </p:pic>
    </p:spTree>
    <p:extLst>
      <p:ext uri="{BB962C8B-B14F-4D97-AF65-F5344CB8AC3E}">
        <p14:creationId xmlns:p14="http://schemas.microsoft.com/office/powerpoint/2010/main" val="7901420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2026-10-16T23:38:27.0620000Z</dcterms:created>
  <dcterms:modified xsi:type="dcterms:W3CDTF">2026-10-16T23:38:27.0630000Z</dcterms:modified>
</coreProperties>
</file>