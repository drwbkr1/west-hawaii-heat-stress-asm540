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b7d87d876e94e47" /><Relationship Type="http://schemas.openxmlformats.org/officeDocument/2006/relationships/extended-properties" Target="/docProps/app.xml" Id="Rbe21b195563b4b3d" /><Relationship Type="http://schemas.openxmlformats.org/officeDocument/2006/relationships/officeDocument" Target="/ppt/presentation.xml" Id="Rcca264d902b14313" /></Relationships>
</file>

<file path=ppt/presentation.xml><?xml version="1.0" encoding="utf-8"?>
<p:presentation xmlns:p="http://schemas.openxmlformats.org/presentationml/2006/main">
  <p:sldMasterIdLst>
    <p:sldMasterId xmlns:r="http://schemas.openxmlformats.org/officeDocument/2006/relationships" id="2147483648" r:id="R4bc514cc72f94168"/>
  </p:sldMasterIdLst>
  <p:notesMasterIdLst>
    <p:notesMasterId xmlns:r="http://schemas.openxmlformats.org/officeDocument/2006/relationships" r:id="R58250559d34e441a"/>
  </p:notesMasterIdLst>
  <p:sldIdLst>
    <p:sldId xmlns:r="http://schemas.openxmlformats.org/officeDocument/2006/relationships" id="256" r:id="Rf879ede7e35f4684"/>
    <p:sldId xmlns:r="http://schemas.openxmlformats.org/officeDocument/2006/relationships" id="257" r:id="R26d851868314496f"/>
    <p:sldId xmlns:r="http://schemas.openxmlformats.org/officeDocument/2006/relationships" id="258" r:id="Rbf9dfa7382b84714"/>
    <p:sldId xmlns:r="http://schemas.openxmlformats.org/officeDocument/2006/relationships" id="259" r:id="Re8ee5990899a4e28"/>
    <p:sldId xmlns:r="http://schemas.openxmlformats.org/officeDocument/2006/relationships" id="260" r:id="Rb31255b437c84b4e"/>
    <p:sldId xmlns:r="http://schemas.openxmlformats.org/officeDocument/2006/relationships" id="261" r:id="R2928e4056cf04c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fd3df1424c4835" /><Relationship Type="http://schemas.openxmlformats.org/officeDocument/2006/relationships/slideMaster" Target="/ppt/slideMasters/slideMaster1.xml" Id="R4bc514cc72f94168" /><Relationship Type="http://schemas.openxmlformats.org/officeDocument/2006/relationships/notesMaster" Target="/ppt/notesMasters/notesMaster1.xml" Id="R58250559d34e441a" /><Relationship Type="http://schemas.openxmlformats.org/officeDocument/2006/relationships/presProps" Target="/ppt/presProps.xml" Id="Re4caf422938c4299" /><Relationship Type="http://schemas.openxmlformats.org/officeDocument/2006/relationships/tableStyles" Target="/ppt/tableStyles.xml" Id="R7cbade943b454727" /><Relationship Type="http://schemas.openxmlformats.org/officeDocument/2006/relationships/slide" Target="/ppt/slides/slide1.xml" Id="Rf879ede7e35f4684" /><Relationship Type="http://schemas.openxmlformats.org/officeDocument/2006/relationships/slide" Target="/ppt/slides/slide2.xml" Id="R26d851868314496f" /><Relationship Type="http://schemas.openxmlformats.org/officeDocument/2006/relationships/slide" Target="/ppt/slides/slide3.xml" Id="Rbf9dfa7382b84714" /><Relationship Type="http://schemas.openxmlformats.org/officeDocument/2006/relationships/slide" Target="/ppt/slides/slide4.xml" Id="Re8ee5990899a4e28" /><Relationship Type="http://schemas.openxmlformats.org/officeDocument/2006/relationships/slide" Target="/ppt/slides/slide5.xml" Id="Rb31255b437c84b4e" /><Relationship Type="http://schemas.openxmlformats.org/officeDocument/2006/relationships/slide" Target="/ppt/slides/slide6.xml" Id="R2928e4056cf04c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7bb3647c814f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1f539a10294a5e" /><Relationship Type="http://schemas.openxmlformats.org/officeDocument/2006/relationships/notesMaster" Target="/ppt/notesMasters/notesMaster1.xml" Id="R79139b68673140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52ebc00e3843ae" /><Relationship Type="http://schemas.openxmlformats.org/officeDocument/2006/relationships/notesMaster" Target="/ppt/notesMasters/notesMaster1.xml" Id="R6fff4b87cb3144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4f9e1c50514a74" /><Relationship Type="http://schemas.openxmlformats.org/officeDocument/2006/relationships/notesMaster" Target="/ppt/notesMasters/notesMaster1.xml" Id="Rb7990f2ce96745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ea047b074a4e23" /><Relationship Type="http://schemas.openxmlformats.org/officeDocument/2006/relationships/notesMaster" Target="/ppt/notesMasters/notesMaster1.xml" Id="R37b02beeb14d48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4069eb997e49c1" /><Relationship Type="http://schemas.openxmlformats.org/officeDocument/2006/relationships/notesMaster" Target="/ppt/notesMasters/notesMaster1.xml" Id="Rccfa64c5401a47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4a8f0df3554c08" /><Relationship Type="http://schemas.openxmlformats.org/officeDocument/2006/relationships/notesMaster" Target="/ppt/notesMasters/notesMaster1.xml" Id="Re93f9ceeb1ec41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examine how thermal exposure differed between 2015 and 2019, how satellite SST compared with underwater loggers, and whether random forests improved seven-day SST forecasts.</a:t>
            </a:r>
          </a:p>
          <a:p xmlns:a="http://schemas.openxmlformats.org/drawingml/2006/main">
            <a:r>
              <a:t>NOAA Coral Reef Watch via PacIOOS: https://pae-paha.pacioos.hawaii.edu/erddap/griddap/dhw_5km.html</a:t>
            </a:r>
          </a:p>
          <a:p xmlns:a="http://schemas.openxmlformats.org/drawingml/2006/main">
            <a:r>
              <a:t>NOAA NCEI: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Project results: https://github.com/drwbkr1/West-Hawaii-Heat-Stress-ASM540/tree/main/Analysis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area of interest (AOI) covers West Hawaiʻi on Hawaiʻi Island. Its boundary is 18.90–20.30° N and −156.10 to −155.65° longitude. The satellite data use a 0.05-degree grid. Q1 compares full-calendar-year heat exposure in 2015 and 2019. Degree Heating Weeks (DHW) measures accumulated thermal stress in °C-weeks. Q2 compares matched seasons and complete nighttime logger means with satellite sea surface temperature (SST), using mean satellite-minus-logger difference and root mean square difference (RMSD). Q3 evaluates seven-day-ahead satellite SST forecasts with mean absolute error (MAE) and root mean square error (RMSE). Persistence forecasts today’s SST seven days ahead. Seasonal averages use historical temperatures around the target day of year.</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Q1 GIS workflow: Create Fishnet makes the AOI and 0.05-degree satellite grid in WGS84. Project both to NAD83 UTM Zone 5N using NAD_1983_To_WGS_1984_3. Copy and Clip the 2007 NOAA NCCOS habitat to the AOI. Calculate geodesic hectares, select Coral Reef and Hardbottom, Intersect habitat with the projected grid, and summarize piece areas by Cell_ID. Prepare CRW_Key from cell-center latitude and longitude. Retain valid zero DHW values and set masked DHW to null. Summary Statistics by CRW_Key and Event_Year calculates annual maximum DHW, valid days, and days at DHW ≥4 and ≥8. Join annual values to grid copies, classify peak DHW, join classes to reef intersection pieces, and sum reef hectares. Match the 135 common cells with complete annual coverage for paired comparisons. Values on the slide list 2015 then 2019. Mapped reef/hardbottom area is 5,702.29 ha, of which 4,731.23 ha has valid DHW and 971.05 ha is unassessed.</a:t>
            </a:r>
          </a:p>
          <a:p xmlns:a="http://schemas.openxmlformats.org/drawingml/2006/main">
            <a:r>
              <a:t>Results: https://github.com/drwbkr1/West-Hawaii-Heat-Stress-ASM540/tree/main/Analysis/Q1/Outputs</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existing printed chart is Documentation/Figures/August_November_RMSD.png. August–November RMSD (°C), 2015/2019: OCC-HAW-001 0.741/0.334, OCC-HAW-002 0.566/0.290, OCC-HAW-009 0.317/0.210. Q2 workflow: Copy Rows from CSV, remove units rows, Delete Identical on observation fields, and use Find Identical to check time/site/deployment keys. Parse numeric temperature/depth and convert UTC to HST (UTC−10). Merge observations and summarize deployment coordinates. XY Table To Point uses recorded longitude and latitude in WGS84. Spatial Join associates deployments with satellite cells, and attribute joins carry CRW_Key back to observations. These are coordinate-based points and spatial joins. No address geocoding is used. Select 00:00 to before 06:00 HST, summarize nightly temperatures, and keep complete nights with 72 five-minute or 360 one-minute readings. Join satellite SST by cell and date. Calculate satellite SST minus the nightly underwater mean, square the difference, summarize by common season/site/depth/year, and take the square root of mean squared difference. This late-season chart uses 122 complete matched nights per site/year, 732 comparisons in total.</a:t>
            </a:r>
          </a:p>
          <a:p xmlns:a="http://schemas.openxmlformats.org/drawingml/2006/main">
            <a:r>
              <a:t>Results: https://github.com/drwbkr1/West-Hawaii-Heat-Stress-ASM540/blob/main/Analysis/Q2/Outputs/Q2_SiteSeason_Statistics.csv</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editable chart retains the saved held-out test MAE values: persistence 0.2228°C, random forest 0.2350°C, seasonal baseline 0.5656°C. The target is satellite SST seven days ahead. Chronological splits: initial training 2003–2013, 11,949 examples; validation 2014, 1,074 forecasts; final testing 2015–2025, 11,754 forecasts. Training targets precede validation issue dates. Development targets precede test issue dates. Four RF candidates combine maximum depth 8 or 16 with minimum leaf size 5 or 20. Each uses 300 trees and random seed 540. Select candidate 4 (depth 16, leaf size 20) using validation MAE, with RMSE as a tie-breaker. Validation MAE is RF 0.2116°C, persistence 0.2202°C, seasonal 0.5575°C. Refit the selected configuration on 13,044 eligible pre-2015 examples. Predictors use current/lagged SST, rolling means, seven-day change, seasonal sine/cosine, and cell indicators. Future DHW only groups evaluation results.</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animated GIF shows the two southern cells for every evaluated year from 2015 through 2025. RF skill varies by cell and year. Strong heat-stress years expose larger forecast errors. Animation color on the right represents annual RF improvement over persistence, 100 × (1 − RF MAE / persistence MAE). Positive skill favors RF and negative skill favors persistence. The accompanying DHW categories and errors on this slide pool all three forecast cells over held-out test target dates. DHW &lt;4: N=11,168, RF MAE 0.2214°C, persistence MAE 0.2209°C. DHW 4 to below 8: N=259, RF MAE 0.5392°C, persistence MAE 0.2337°C. DHW ≥8: N=327, RF MAE 0.4594°C, persistence MAE 0.2779°C. High-DHW RF MAE is about 65.3% higher than persistence and about 2.1 times its own low-DHW MAE. The low-DHW result is essentially a tie with persistence. For 2015 annual forecasts, southern nearshore RF skill is −63.5826% and offshore skill is −63.2058%, with 358 forecasts per cell. Peak DHW is 13.16 and 13.29 °C-weeks respectively, with 73 evaluated days at DHW ≥8 at each cell. The animation uses annual summaries of evaluated target dates. It is a different aggregation from the pooled DHW groups printed alongside it.</a:t>
            </a:r>
          </a:p>
          <a:p xmlns:a="http://schemas.openxmlformats.org/drawingml/2006/main">
            <a:r>
              <a:t>Annual results: https://github.com/drwbkr1/West-Hawaii-Heat-Stress-ASM540/blob/main/Analysis/Q3/Outputs/Q3_CellForecast_Annual_Summary.csv</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c949ca756346d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c00225fdfd48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0aae691c4d44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2979ddefe545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eb701079ad42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f53072bf8549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07EDFA-AFF9-4825-A062-630CFA76A76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A52FB4F-98C5-43B0-A2FB-3A5353EB25C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40D25D-AB5B-45C5-A1E1-54B5D10079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3425D7-9CE7-49CF-8338-7B1D365BD4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737F1F2-9001-41C2-A52A-47B7352F262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B3157F-E46C-4C5E-95D9-30EB518981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53A83E-834B-452E-9431-1B4A6E35C9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BB8C57-627E-4C07-BF3E-BBE1C8001C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AE288D-42B7-4B13-AC7C-0E76261476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2A07F1-A663-49AB-8264-F750329AEC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d73638d0b74b60" /><Relationship Type="http://schemas.openxmlformats.org/officeDocument/2006/relationships/slideLayout" Target="/ppt/slideLayouts/slideLayout1.xml" Id="R0210c505b3494c25" /><Relationship Type="http://schemas.openxmlformats.org/officeDocument/2006/relationships/slideLayout" Target="/ppt/slideLayouts/slideLayout2.xml" Id="Rbe66e302c7e6479d" /><Relationship Type="http://schemas.openxmlformats.org/officeDocument/2006/relationships/slideLayout" Target="/ppt/slideLayouts/slideLayout3.xml" Id="Rdbe7972b15b7457b" /><Relationship Type="http://schemas.openxmlformats.org/officeDocument/2006/relationships/slideLayout" Target="/ppt/slideLayouts/slideLayout4.xml" Id="R9b3b5159d7e34db0" /><Relationship Type="http://schemas.openxmlformats.org/officeDocument/2006/relationships/slideLayout" Target="/ppt/slideLayouts/slideLayout5.xml" Id="Rc8bae8308b4a4210" /><Relationship Type="http://schemas.openxmlformats.org/officeDocument/2006/relationships/slideLayout" Target="/ppt/slideLayouts/slideLayout6.xml" Id="Rec2e61500fef41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10c505b3494c25"/>
    <p:sldLayoutId xmlns:r="http://schemas.openxmlformats.org/officeDocument/2006/relationships" id="2147483650" r:id="Rbe66e302c7e6479d"/>
    <p:sldLayoutId xmlns:r="http://schemas.openxmlformats.org/officeDocument/2006/relationships" id="2147483651" r:id="Rdbe7972b15b7457b"/>
    <p:sldLayoutId xmlns:r="http://schemas.openxmlformats.org/officeDocument/2006/relationships" id="2147483652" r:id="R9b3b5159d7e34db0"/>
    <p:sldLayoutId xmlns:r="http://schemas.openxmlformats.org/officeDocument/2006/relationships" id="2147483653" r:id="Rc8bae8308b4a4210"/>
    <p:sldLayoutId xmlns:r="http://schemas.openxmlformats.org/officeDocument/2006/relationships" id="2147483654" r:id="Rec2e61500fef41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25e06a17dd4dde" /><Relationship Type="http://schemas.openxmlformats.org/officeDocument/2006/relationships/notesSlide" Target="/ppt/notesSlides/notesSlide1.xml" Id="Rf342bba2438844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135502c02e443c1" /><Relationship Type="http://schemas.openxmlformats.org/officeDocument/2006/relationships/image" Target="/ppt/media/image.png" Id="Ra8e41c0111b3415c" /><Relationship Type="http://schemas.openxmlformats.org/officeDocument/2006/relationships/notesSlide" Target="/ppt/notesSlides/notesSlide2.xml" Id="R610db0d6e25b4f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a693c6b7614ffe" /><Relationship Type="http://schemas.openxmlformats.org/officeDocument/2006/relationships/image" Target="/ppt/media/image2.png" Id="R81baaf4465384c2b" /><Relationship Type="http://schemas.openxmlformats.org/officeDocument/2006/relationships/notesSlide" Target="/ppt/notesSlides/notesSlide3.xml" Id="R8d64c2d400d345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2dd0e23e94943af" /><Relationship Type="http://schemas.openxmlformats.org/officeDocument/2006/relationships/image" Target="/ppt/media/image3.png" Id="Rd31752c3cfb54311" /><Relationship Type="http://schemas.openxmlformats.org/officeDocument/2006/relationships/notesSlide" Target="/ppt/notesSlides/notesSlide4.xml" Id="R56a15b55f3ee42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4d5043a2b74795" /><Relationship Type="http://schemas.openxmlformats.org/officeDocument/2006/relationships/chart" Target="/ppt/slides/charts/chart1.xml" Id="R3454e4de8c24448e" /><Relationship Type="http://schemas.openxmlformats.org/officeDocument/2006/relationships/notesSlide" Target="/ppt/notesSlides/notesSlide5.xml" Id="R9f69cb3a887340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d93c3c277e347dd" /><Relationship Type="http://schemas.openxmlformats.org/officeDocument/2006/relationships/image" Target="/ppt/media/image.gif" Id="R77e69ffc12064408" /><Relationship Type="http://schemas.openxmlformats.org/officeDocument/2006/relationships/notesSlide" Target="/ppt/notesSlides/notesSlide6.xml" Id="Rb8dc0f45767f48a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 (°C)</c:v>
          </c:tx>
          <c:spPr>
            <a:solidFill xmlns:a="http://schemas.openxmlformats.org/drawingml/2006/main">
              <a:srgbClr val="167D91"/>
            </a:solidFill>
          </c:spPr>
          <c:invertIfNegative val="0"/>
          <c:cat>
            <c:strRef>
              <c:f>'Chart Data'!$A$2:$A$4</c:f>
              <c:strCache>
                <c:ptCount val="3"/>
                <c:pt idx="0">
                  <c:v>Persistence</c:v>
                </c:pt>
                <c:pt idx="1">
                  <c:v>Random forest</c:v>
                </c:pt>
                <c:pt idx="2">
                  <c:v>Seasonal</c:v>
                </c:pt>
              </c:strCache>
            </c:strRef>
          </c:cat>
          <c:val>
            <c:numRef>
              <c:f>'Chart Data'!$B$2:$B$4</c:f>
              <c:numCache>
                <c:formatCode>0.0</c:formatCode>
                <c:ptCount val="3"/>
                <c:pt idx="0">
                  <c:v>0.2228</c:v>
                </c:pt>
                <c:pt idx="1">
                  <c:v>0.235</c:v>
                </c:pt>
                <c:pt idx="2">
                  <c:v>0.5656</c:v>
                </c:pt>
              </c:numCache>
            </c:numRef>
          </c:val>
        </c:ser>
        <c:dLbls>
          <c:numFmt formatCode="0.0000" sourceLinked="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CE4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5BA9921-F9CB-4DD6-BE19-6542A73424B4}"/>
              </a:ext>
            </a:extLst>
          </p:cNvPr>
          <p:cNvSpPr>
            <a:spLocks xmlns:a="http://schemas.openxmlformats.org/drawingml/2006/main" noGrp="1"/>
          </p:cNvSpPr>
          <p:nvPr/>
        </p:nvSpPr>
        <p:spPr>
          <a:xfrm xmlns:a="http://schemas.openxmlformats.org/drawingml/2006/main">
            <a:off x="619125" y="952500"/>
            <a:ext cx="6477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52F45"/>
                </a:solidFill>
                <a:latin typeface="Arial"/>
                <a:ea typeface="Arial"/>
                <a:cs typeface="Arial"/>
              </a:defRPr>
            </a:defPPr>
          </a:lstStyle>
          <a:p xmlns:a="http://schemas.openxmlformats.org/drawingml/2006/main">
            <a:pPr>
              <a:buNone/>
              <a:defRPr sz="4800" b="1">
                <a:solidFill>
                  <a:srgbClr val="152F45"/>
                </a:solidFill>
                <a:latin typeface="Arial"/>
                <a:ea typeface="Arial"/>
                <a:cs typeface="Arial"/>
              </a:defRPr>
            </a:pPr>
            <a:r>
              <a:rPr sz="4800" b="1">
                <a:solidFill>
                  <a:srgbClr val="152F45"/>
                </a:solidFill>
                <a:latin typeface="Arial"/>
                <a:ea typeface="Arial"/>
                <a:cs typeface="Arial"/>
              </a:rPr>
              <a:t>West Hawaiʻi</a:t>
            </a:r>
          </a:p>
          <a:p xmlns:a="http://schemas.openxmlformats.org/drawingml/2006/main">
            <a:pPr>
              <a:buNone/>
              <a:defRPr sz="4800" b="1">
                <a:solidFill>
                  <a:srgbClr val="152F45"/>
                </a:solidFill>
                <a:latin typeface="Arial"/>
                <a:ea typeface="Arial"/>
                <a:cs typeface="Arial"/>
              </a:defRPr>
            </a:pPr>
            <a:r>
              <a:rPr sz="4800" b="1">
                <a:solidFill>
                  <a:srgbClr val="152F45"/>
                </a:solidFill>
                <a:latin typeface="Arial"/>
                <a:ea typeface="Arial"/>
                <a:cs typeface="Arial"/>
              </a:rPr>
              <a:t>Heat Stress</a:t>
            </a:r>
          </a:p>
        </p:txBody>
      </p:sp>
      <p:sp>
        <p:nvSpPr>
          <p:cNvPr id="2" name="">
            <a:extLst xmlns:a="http://schemas.openxmlformats.org/drawingml/2006/main">
              <a:ext uri="{FF2B5EF4-FFF2-40B4-BE49-F238E27FC236}">
                <a16:creationId xmlns:a16="http://schemas.microsoft.com/office/drawing/2014/main" id="{765067D9-B9FF-49DE-8E36-82A6B3359B54}"/>
              </a:ext>
            </a:extLst>
          </p:cNvPr>
          <p:cNvSpPr>
            <a:spLocks xmlns:a="http://schemas.openxmlformats.org/drawingml/2006/main" noGrp="1"/>
          </p:cNvSpPr>
          <p:nvPr/>
        </p:nvSpPr>
        <p:spPr>
          <a:xfrm xmlns:a="http://schemas.openxmlformats.org/drawingml/2006/main">
            <a:off x="657225" y="3143250"/>
            <a:ext cx="619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63C49"/>
                </a:solidFill>
                <a:latin typeface="Arial"/>
                <a:ea typeface="Arial"/>
                <a:cs typeface="Arial"/>
              </a:defRPr>
            </a:defPPr>
          </a:lstStyle>
          <a:p xmlns:a="http://schemas.openxmlformats.org/drawingml/2006/main">
            <a:pPr>
              <a:buNone/>
              <a:defRPr sz="2250" b="0">
                <a:solidFill>
                  <a:srgbClr val="263C49"/>
                </a:solidFill>
                <a:latin typeface="Arial"/>
                <a:ea typeface="Arial"/>
                <a:cs typeface="Arial"/>
              </a:defRPr>
            </a:pPr>
            <a:r>
              <a:rPr sz="2250" b="0">
                <a:solidFill>
                  <a:srgbClr val="263C49"/>
                </a:solidFill>
                <a:latin typeface="Arial"/>
                <a:ea typeface="Arial"/>
                <a:cs typeface="Arial"/>
              </a:rPr>
              <a:t>Satellite exposure, underwater temperatures,</a:t>
            </a:r>
          </a:p>
          <a:p xmlns:a="http://schemas.openxmlformats.org/drawingml/2006/main">
            <a:pPr>
              <a:buNone/>
              <a:defRPr sz="2250" b="0">
                <a:solidFill>
                  <a:srgbClr val="263C49"/>
                </a:solidFill>
                <a:latin typeface="Arial"/>
                <a:ea typeface="Arial"/>
                <a:cs typeface="Arial"/>
              </a:defRPr>
            </a:pPr>
            <a:r>
              <a:rPr sz="2250" b="0">
                <a:solidFill>
                  <a:srgbClr val="263C49"/>
                </a:solidFill>
                <a:latin typeface="Arial"/>
                <a:ea typeface="Arial"/>
                <a:cs typeface="Arial"/>
              </a:rPr>
              <a:t>and a seven-day forecasting test</a:t>
            </a:r>
          </a:p>
        </p:txBody>
      </p:sp>
      <p:sp>
        <p:nvSpPr>
          <p:cNvPr id="3" name="">
            <a:extLst xmlns:a="http://schemas.openxmlformats.org/drawingml/2006/main">
              <a:ext uri="{FF2B5EF4-FFF2-40B4-BE49-F238E27FC236}">
                <a16:creationId xmlns:a16="http://schemas.microsoft.com/office/drawing/2014/main" id="{90CF408D-B4F6-43BE-A887-34F9A3A79A79}"/>
              </a:ext>
            </a:extLst>
          </p:cNvPr>
          <p:cNvSpPr>
            <a:spLocks xmlns:a="http://schemas.openxmlformats.org/drawingml/2006/main" noGrp="1"/>
          </p:cNvSpPr>
          <p:nvPr/>
        </p:nvSpPr>
        <p:spPr>
          <a:xfrm xmlns:a="http://schemas.openxmlformats.org/drawingml/2006/main">
            <a:off x="666750" y="5381625"/>
            <a:ext cx="647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67D91"/>
                </a:solidFill>
                <a:latin typeface="Arial"/>
                <a:ea typeface="Arial"/>
                <a:cs typeface="Arial"/>
              </a:defRPr>
            </a:defPPr>
          </a:lstStyle>
          <a:p xmlns:a="http://schemas.openxmlformats.org/drawingml/2006/main">
            <a:pPr>
              <a:buNone/>
              <a:defRPr sz="1875" b="0">
                <a:solidFill>
                  <a:srgbClr val="167D91"/>
                </a:solidFill>
                <a:latin typeface="Arial"/>
                <a:ea typeface="Arial"/>
                <a:cs typeface="Arial"/>
              </a:defRPr>
            </a:pPr>
            <a:r>
              <a:rPr sz="1875" b="0">
                <a:solidFill>
                  <a:srgbClr val="167D91"/>
                </a:solidFill>
                <a:latin typeface="Arial"/>
                <a:ea typeface="Arial"/>
                <a:cs typeface="Arial"/>
              </a:rPr>
              <a:t>Drew Baker</a:t>
            </a:r>
          </a:p>
          <a:p xmlns:a="http://schemas.openxmlformats.org/drawingml/2006/main">
            <a:pPr>
              <a:buNone/>
              <a:defRPr sz="1875" b="0">
                <a:solidFill>
                  <a:srgbClr val="167D91"/>
                </a:solidFill>
                <a:latin typeface="Arial"/>
                <a:ea typeface="Arial"/>
                <a:cs typeface="Arial"/>
              </a:defRPr>
            </a:pPr>
            <a:r>
              <a:rPr sz="1875" b="0">
                <a:solidFill>
                  <a:srgbClr val="167D91"/>
                </a:solidFill>
                <a:latin typeface="Arial"/>
                <a:ea typeface="Arial"/>
                <a:cs typeface="Arial"/>
              </a:rPr>
              <a:t>ASM54000, October 2026</a:t>
            </a:r>
          </a:p>
        </p:txBody>
      </p:sp>
    </p:spTree>
    <p:extLst>
      <p:ext uri="{BB962C8B-B14F-4D97-AF65-F5344CB8AC3E}">
        <p14:creationId xmlns:p14="http://schemas.microsoft.com/office/powerpoint/2010/main" val="4116060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39B425-23A5-47C3-BF5C-B0E4DBEA7241}"/>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Study area and project questions</a:t>
            </a:r>
          </a:p>
        </p:txBody>
      </p:sp>
      <p:pic>
        <p:nvPicPr>
          <p:cNvPr id="8" name="">
            <a:extLst xmlns:a="http://schemas.openxmlformats.org/drawingml/2006/main">
              <a:ext uri="{FF2B5EF4-FFF2-40B4-BE49-F238E27FC236}">
                <a16:creationId xmlns:a16="http://schemas.microsoft.com/office/drawing/2014/main" id="{846F7E99-528A-4A6B-9AE3-9673207ABE33}"/>
              </a:ext>
            </a:extLst>
          </p:cNvPr>
          <p:cNvPicPr>
            <a:picLocks xmlns:a="http://schemas.openxmlformats.org/drawingml/2006/main" noChangeAspect="1"/>
          </p:cNvPicPr>
          <p:nvPr/>
        </p:nvPicPr>
        <p:blipFill>
          <a:blip xmlns:r="http://schemas.openxmlformats.org/officeDocument/2006/relationships" xmlns:a="http://schemas.openxmlformats.org/drawingml/2006/main" r:embed="Ra8e41c0111b3415c"/>
          <a:stretch xmlns:a="http://schemas.openxmlformats.org/drawingml/2006/main"/>
        </p:blipFill>
        <p:spPr>
          <a:xfrm xmlns:a="http://schemas.openxmlformats.org/drawingml/2006/main">
            <a:off x="6619875" y="1714500"/>
            <a:ext cx="5095875" cy="433387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D36D1C9-C8F8-4A35-8631-8A9C5C0A0F2B}"/>
              </a:ext>
            </a:extLst>
          </p:cNvPr>
          <p:cNvSpPr>
            <a:spLocks xmlns:a="http://schemas.openxmlformats.org/drawingml/2006/main" noGrp="1"/>
          </p:cNvSpPr>
          <p:nvPr/>
        </p:nvSpPr>
        <p:spPr>
          <a:xfrm xmlns:a="http://schemas.openxmlformats.org/drawingml/2006/main">
            <a:off x="571500" y="1333500"/>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Study area: West Hawaiʻi</a:t>
            </a:r>
          </a:p>
        </p:txBody>
      </p:sp>
      <p:sp>
        <p:nvSpPr>
          <p:cNvPr id="11" name="">
            <a:extLst xmlns:a="http://schemas.openxmlformats.org/drawingml/2006/main">
              <a:ext uri="{FF2B5EF4-FFF2-40B4-BE49-F238E27FC236}">
                <a16:creationId xmlns:a16="http://schemas.microsoft.com/office/drawing/2014/main" id="{13748C93-CE5C-489F-AD8E-3CA6D028B132}"/>
              </a:ext>
            </a:extLst>
          </p:cNvPr>
          <p:cNvSpPr>
            <a:spLocks xmlns:a="http://schemas.openxmlformats.org/drawingml/2006/main" noGrp="1"/>
          </p:cNvSpPr>
          <p:nvPr/>
        </p:nvSpPr>
        <p:spPr>
          <a:xfrm xmlns:a="http://schemas.openxmlformats.org/drawingml/2006/main">
            <a:off x="571500" y="1752600"/>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AOI: the west coast of Hawaiʻi Island, 18.90–20.30° N and 156.10–155.65° W. Satellite grid: 0.05° (about 5 km).</a:t>
            </a:r>
          </a:p>
        </p:txBody>
      </p:sp>
      <p:sp>
        <p:nvSpPr>
          <p:cNvPr id="12" name="">
            <a:extLst xmlns:a="http://schemas.openxmlformats.org/drawingml/2006/main">
              <a:ext uri="{FF2B5EF4-FFF2-40B4-BE49-F238E27FC236}">
                <a16:creationId xmlns:a16="http://schemas.microsoft.com/office/drawing/2014/main" id="{DDBCC69A-0A81-4AF9-8E1D-DC71443EB140}"/>
              </a:ext>
            </a:extLst>
          </p:cNvPr>
          <p:cNvSpPr>
            <a:spLocks xmlns:a="http://schemas.openxmlformats.org/drawingml/2006/main" noGrp="1"/>
          </p:cNvSpPr>
          <p:nvPr/>
        </p:nvSpPr>
        <p:spPr>
          <a:xfrm xmlns:a="http://schemas.openxmlformats.org/drawingml/2006/main">
            <a:off x="571500" y="2619375"/>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Q1: Which year had more heat stress?</a:t>
            </a:r>
          </a:p>
        </p:txBody>
      </p:sp>
      <p:sp>
        <p:nvSpPr>
          <p:cNvPr id="13" name="">
            <a:extLst xmlns:a="http://schemas.openxmlformats.org/drawingml/2006/main">
              <a:ext uri="{FF2B5EF4-FFF2-40B4-BE49-F238E27FC236}">
                <a16:creationId xmlns:a16="http://schemas.microsoft.com/office/drawing/2014/main" id="{CF8A5E01-D607-46B4-A82D-8AA599648E7A}"/>
              </a:ext>
            </a:extLst>
          </p:cNvPr>
          <p:cNvSpPr>
            <a:spLocks xmlns:a="http://schemas.openxmlformats.org/drawingml/2006/main" noGrp="1"/>
          </p:cNvSpPr>
          <p:nvPr/>
        </p:nvSpPr>
        <p:spPr>
          <a:xfrm xmlns:a="http://schemas.openxmlformats.org/drawingml/2006/main">
            <a:off x="571500" y="3038475"/>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Compare 2015 and 2019 peak DHW (°C-weeks), days at DHW ≥4 / ≥8, and exposed reef area (ha).</a:t>
            </a:r>
          </a:p>
        </p:txBody>
      </p:sp>
      <p:sp>
        <p:nvSpPr>
          <p:cNvPr id="14" name="">
            <a:extLst xmlns:a="http://schemas.openxmlformats.org/drawingml/2006/main">
              <a:ext uri="{FF2B5EF4-FFF2-40B4-BE49-F238E27FC236}">
                <a16:creationId xmlns:a16="http://schemas.microsoft.com/office/drawing/2014/main" id="{C8173C50-5C72-45D5-9FF6-6C15F4414E17}"/>
              </a:ext>
            </a:extLst>
          </p:cNvPr>
          <p:cNvSpPr>
            <a:spLocks xmlns:a="http://schemas.openxmlformats.org/drawingml/2006/main" noGrp="1"/>
          </p:cNvSpPr>
          <p:nvPr/>
        </p:nvSpPr>
        <p:spPr>
          <a:xfrm xmlns:a="http://schemas.openxmlformats.org/drawingml/2006/main">
            <a:off x="571500" y="3905250"/>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Q2: Do satellite and logger SST agree?</a:t>
            </a:r>
          </a:p>
        </p:txBody>
      </p:sp>
      <p:sp>
        <p:nvSpPr>
          <p:cNvPr id="15" name="">
            <a:extLst xmlns:a="http://schemas.openxmlformats.org/drawingml/2006/main">
              <a:ext uri="{FF2B5EF4-FFF2-40B4-BE49-F238E27FC236}">
                <a16:creationId xmlns:a16="http://schemas.microsoft.com/office/drawing/2014/main" id="{978D2EDC-6868-451B-89DF-45A23690B7BA}"/>
              </a:ext>
            </a:extLst>
          </p:cNvPr>
          <p:cNvSpPr>
            <a:spLocks xmlns:a="http://schemas.openxmlformats.org/drawingml/2006/main" noGrp="1"/>
          </p:cNvSpPr>
          <p:nvPr/>
        </p:nvSpPr>
        <p:spPr>
          <a:xfrm xmlns:a="http://schemas.openxmlformats.org/drawingml/2006/main">
            <a:off x="571500" y="4324350"/>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Compare nighttime logger means with satellite SST. Measure bias and RMSD (°C) by site, depth, and season.</a:t>
            </a:r>
          </a:p>
        </p:txBody>
      </p:sp>
      <p:sp>
        <p:nvSpPr>
          <p:cNvPr id="16" name="">
            <a:extLst xmlns:a="http://schemas.openxmlformats.org/drawingml/2006/main">
              <a:ext uri="{FF2B5EF4-FFF2-40B4-BE49-F238E27FC236}">
                <a16:creationId xmlns:a16="http://schemas.microsoft.com/office/drawing/2014/main" id="{A0A46B54-0109-48B0-AD75-2D5ABF8A30E0}"/>
              </a:ext>
            </a:extLst>
          </p:cNvPr>
          <p:cNvSpPr>
            <a:spLocks xmlns:a="http://schemas.openxmlformats.org/drawingml/2006/main" noGrp="1"/>
          </p:cNvSpPr>
          <p:nvPr/>
        </p:nvSpPr>
        <p:spPr>
          <a:xfrm xmlns:a="http://schemas.openxmlformats.org/drawingml/2006/main">
            <a:off x="571500" y="5191125"/>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Q3: Can RF beat simple SST forecasts?</a:t>
            </a:r>
          </a:p>
        </p:txBody>
      </p:sp>
      <p:sp>
        <p:nvSpPr>
          <p:cNvPr id="17" name="">
            <a:extLst xmlns:a="http://schemas.openxmlformats.org/drawingml/2006/main">
              <a:ext uri="{FF2B5EF4-FFF2-40B4-BE49-F238E27FC236}">
                <a16:creationId xmlns:a16="http://schemas.microsoft.com/office/drawing/2014/main" id="{96C4D699-57B2-42AC-BBEF-4401C5AB19B5}"/>
              </a:ext>
            </a:extLst>
          </p:cNvPr>
          <p:cNvSpPr>
            <a:spLocks xmlns:a="http://schemas.openxmlformats.org/drawingml/2006/main" noGrp="1"/>
          </p:cNvSpPr>
          <p:nvPr/>
        </p:nvSpPr>
        <p:spPr>
          <a:xfrm xmlns:a="http://schemas.openxmlformats.org/drawingml/2006/main">
            <a:off x="571500" y="5610225"/>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Forecast satellite SST seven days ahead at three cells. Compare MAE and RMSE (°C) with persistence and seasonal averages.</a:t>
            </a:r>
          </a:p>
        </p:txBody>
      </p:sp>
    </p:spTree>
    <p:extLst>
      <p:ext uri="{BB962C8B-B14F-4D97-AF65-F5344CB8AC3E}">
        <p14:creationId xmlns:p14="http://schemas.microsoft.com/office/powerpoint/2010/main" val="20209205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8F4BA8-4DD5-409C-AA71-CDAD478D1CFC}"/>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2015 had greater accumulated heat stress</a:t>
            </a:r>
          </a:p>
        </p:txBody>
      </p:sp>
      <p:pic>
        <p:nvPicPr>
          <p:cNvPr id="2" name="">
            <a:extLst xmlns:a="http://schemas.openxmlformats.org/drawingml/2006/main">
              <a:ext uri="{FF2B5EF4-FFF2-40B4-BE49-F238E27FC236}">
                <a16:creationId xmlns:a16="http://schemas.microsoft.com/office/drawing/2014/main" id="{16FF666C-8738-4274-8B3D-5B4D61EB2186}"/>
              </a:ext>
            </a:extLst>
          </p:cNvPr>
          <p:cNvPicPr>
            <a:picLocks xmlns:a="http://schemas.openxmlformats.org/drawingml/2006/main" noChangeAspect="1"/>
          </p:cNvPicPr>
          <p:nvPr/>
        </p:nvPicPr>
        <p:blipFill>
          <a:blip xmlns:r="http://schemas.openxmlformats.org/officeDocument/2006/relationships" xmlns:a="http://schemas.openxmlformats.org/drawingml/2006/main" r:embed="R81baaf4465384c2b"/>
          <a:stretch xmlns:a="http://schemas.openxmlformats.org/drawingml/2006/main"/>
        </p:blipFill>
        <p:spPr>
          <a:xfrm xmlns:a="http://schemas.openxmlformats.org/drawingml/2006/main">
            <a:off x="333375" y="1333500"/>
            <a:ext cx="6810375" cy="50958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0686C9A-02FA-4697-B203-76580071B786}"/>
              </a:ext>
            </a:extLst>
          </p:cNvPr>
          <p:cNvSpPr>
            <a:spLocks xmlns:a="http://schemas.openxmlformats.org/drawingml/2006/main" noGrp="1"/>
          </p:cNvSpPr>
          <p:nvPr/>
        </p:nvSpPr>
        <p:spPr>
          <a:xfrm xmlns:a="http://schemas.openxmlformats.org/drawingml/2006/main">
            <a:off x="7524750" y="1476375"/>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Project, clip, and intersect</a:t>
            </a:r>
          </a:p>
        </p:txBody>
      </p:sp>
      <p:sp>
        <p:nvSpPr>
          <p:cNvPr id="10" name="">
            <a:extLst xmlns:a="http://schemas.openxmlformats.org/drawingml/2006/main">
              <a:ext uri="{FF2B5EF4-FFF2-40B4-BE49-F238E27FC236}">
                <a16:creationId xmlns:a16="http://schemas.microsoft.com/office/drawing/2014/main" id="{596B1BF4-21C6-4EED-B7A1-0550F526D7FF}"/>
              </a:ext>
            </a:extLst>
          </p:cNvPr>
          <p:cNvSpPr>
            <a:spLocks xmlns:a="http://schemas.openxmlformats.org/drawingml/2006/main" noGrp="1"/>
          </p:cNvSpPr>
          <p:nvPr/>
        </p:nvSpPr>
        <p:spPr>
          <a:xfrm xmlns:a="http://schemas.openxmlformats.org/drawingml/2006/main">
            <a:off x="7524750" y="1933575"/>
            <a:ext cx="4191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Create a 0.05° fishnet and project to UTM 5N. Clip habitat to the AOI, intersect with the grid, and calculate reef hectares.</a:t>
            </a:r>
          </a:p>
        </p:txBody>
      </p:sp>
      <p:sp>
        <p:nvSpPr>
          <p:cNvPr id="11" name="">
            <a:extLst xmlns:a="http://schemas.openxmlformats.org/drawingml/2006/main">
              <a:ext uri="{FF2B5EF4-FFF2-40B4-BE49-F238E27FC236}">
                <a16:creationId xmlns:a16="http://schemas.microsoft.com/office/drawing/2014/main" id="{4C9E3A45-18F7-425C-AEAC-E433788C8C06}"/>
              </a:ext>
            </a:extLst>
          </p:cNvPr>
          <p:cNvSpPr>
            <a:spLocks xmlns:a="http://schemas.openxmlformats.org/drawingml/2006/main" noGrp="1"/>
          </p:cNvSpPr>
          <p:nvPr/>
        </p:nvSpPr>
        <p:spPr>
          <a:xfrm xmlns:a="http://schemas.openxmlformats.org/drawingml/2006/main">
            <a:off x="7524750" y="3286125"/>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Summarize and join DHW</a:t>
            </a:r>
          </a:p>
        </p:txBody>
      </p:sp>
      <p:sp>
        <p:nvSpPr>
          <p:cNvPr id="12" name="">
            <a:extLst xmlns:a="http://schemas.openxmlformats.org/drawingml/2006/main">
              <a:ext uri="{FF2B5EF4-FFF2-40B4-BE49-F238E27FC236}">
                <a16:creationId xmlns:a16="http://schemas.microsoft.com/office/drawing/2014/main" id="{1D879499-DB44-4D41-98D5-3354408E326D}"/>
              </a:ext>
            </a:extLst>
          </p:cNvPr>
          <p:cNvSpPr>
            <a:spLocks xmlns:a="http://schemas.openxmlformats.org/drawingml/2006/main" noGrp="1"/>
          </p:cNvSpPr>
          <p:nvPr/>
        </p:nvSpPr>
        <p:spPr>
          <a:xfrm xmlns:a="http://schemas.openxmlformats.org/drawingml/2006/main">
            <a:off x="7524750" y="3743325"/>
            <a:ext cx="419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Summarize daily DHW by cell and year. Join peak DHW and threshold-day totals to the grid and reef pieces.</a:t>
            </a:r>
          </a:p>
        </p:txBody>
      </p:sp>
      <p:sp>
        <p:nvSpPr>
          <p:cNvPr id="13" name="">
            <a:extLst xmlns:a="http://schemas.openxmlformats.org/drawingml/2006/main">
              <a:ext uri="{FF2B5EF4-FFF2-40B4-BE49-F238E27FC236}">
                <a16:creationId xmlns:a16="http://schemas.microsoft.com/office/drawing/2014/main" id="{A2F4BBCF-5421-43B6-88FE-F96EB02768A4}"/>
              </a:ext>
            </a:extLst>
          </p:cNvPr>
          <p:cNvSpPr>
            <a:spLocks xmlns:a="http://schemas.openxmlformats.org/drawingml/2006/main" noGrp="1"/>
          </p:cNvSpPr>
          <p:nvPr/>
        </p:nvSpPr>
        <p:spPr>
          <a:xfrm xmlns:a="http://schemas.openxmlformats.org/drawingml/2006/main">
            <a:off x="7524750" y="4953000"/>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Compare the two years</a:t>
            </a:r>
          </a:p>
        </p:txBody>
      </p:sp>
      <p:sp>
        <p:nvSpPr>
          <p:cNvPr id="14" name="">
            <a:extLst xmlns:a="http://schemas.openxmlformats.org/drawingml/2006/main">
              <a:ext uri="{FF2B5EF4-FFF2-40B4-BE49-F238E27FC236}">
                <a16:creationId xmlns:a16="http://schemas.microsoft.com/office/drawing/2014/main" id="{8B8502F0-3690-48A8-AECB-594664198DA1}"/>
              </a:ext>
            </a:extLst>
          </p:cNvPr>
          <p:cNvSpPr>
            <a:spLocks xmlns:a="http://schemas.openxmlformats.org/drawingml/2006/main" noGrp="1"/>
          </p:cNvSpPr>
          <p:nvPr/>
        </p:nvSpPr>
        <p:spPr>
          <a:xfrm xmlns:a="http://schemas.openxmlformats.org/drawingml/2006/main">
            <a:off x="7524750" y="5410200"/>
            <a:ext cx="419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Pair 135 valid water cells. Median peak DHW: 11.64 vs. 10.39 °C-weeks. Reef area at DHW ≥8: 4,731 vs. 3,612 ha.</a:t>
            </a:r>
          </a:p>
        </p:txBody>
      </p:sp>
    </p:spTree>
    <p:extLst>
      <p:ext uri="{BB962C8B-B14F-4D97-AF65-F5344CB8AC3E}">
        <p14:creationId xmlns:p14="http://schemas.microsoft.com/office/powerpoint/2010/main" val="10487820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745A11-A797-4C20-81E8-5468669431FA}"/>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Satellite and underwater temperatures differ</a:t>
            </a:r>
          </a:p>
        </p:txBody>
      </p:sp>
      <p:pic>
        <p:nvPicPr>
          <p:cNvPr id="7" name="">
            <a:extLst xmlns:a="http://schemas.openxmlformats.org/drawingml/2006/main">
              <a:ext uri="{FF2B5EF4-FFF2-40B4-BE49-F238E27FC236}">
                <a16:creationId xmlns:a16="http://schemas.microsoft.com/office/drawing/2014/main" id="{07AD9825-64AF-4C0A-BDD9-631BFDF6AF8A}"/>
              </a:ext>
            </a:extLst>
          </p:cNvPr>
          <p:cNvPicPr>
            <a:picLocks xmlns:a="http://schemas.openxmlformats.org/drawingml/2006/main" noChangeAspect="1"/>
          </p:cNvPicPr>
          <p:nvPr/>
        </p:nvPicPr>
        <p:blipFill>
          <a:blip xmlns:r="http://schemas.openxmlformats.org/officeDocument/2006/relationships" xmlns:a="http://schemas.openxmlformats.org/drawingml/2006/main" r:embed="Rd31752c3cfb54311"/>
          <a:stretch xmlns:a="http://schemas.openxmlformats.org/drawingml/2006/main"/>
        </p:blipFill>
        <p:spPr>
          <a:xfrm xmlns:a="http://schemas.openxmlformats.org/drawingml/2006/main">
            <a:off x="381000" y="1474509"/>
            <a:ext cx="11430000" cy="195635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79E1808-7FEE-4EA4-A163-BC96EF2F29F9}"/>
              </a:ext>
            </a:extLst>
          </p:cNvPr>
          <p:cNvSpPr>
            <a:spLocks xmlns:a="http://schemas.openxmlformats.org/drawingml/2006/main" noGrp="1"/>
          </p:cNvSpPr>
          <p:nvPr/>
        </p:nvSpPr>
        <p:spPr>
          <a:xfrm xmlns:a="http://schemas.openxmlformats.org/drawingml/2006/main">
            <a:off x="571500" y="39528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XY points and spatial matching</a:t>
            </a:r>
          </a:p>
        </p:txBody>
      </p:sp>
      <p:sp>
        <p:nvSpPr>
          <p:cNvPr id="9" name="">
            <a:extLst xmlns:a="http://schemas.openxmlformats.org/drawingml/2006/main">
              <a:ext uri="{FF2B5EF4-FFF2-40B4-BE49-F238E27FC236}">
                <a16:creationId xmlns:a16="http://schemas.microsoft.com/office/drawing/2014/main" id="{5EBE02CD-E501-4A68-9340-F16C3CCFFE26}"/>
              </a:ext>
            </a:extLst>
          </p:cNvPr>
          <p:cNvSpPr>
            <a:spLocks xmlns:a="http://schemas.openxmlformats.org/drawingml/2006/main" noGrp="1"/>
          </p:cNvSpPr>
          <p:nvPr/>
        </p:nvSpPr>
        <p:spPr>
          <a:xfrm xmlns:a="http://schemas.openxmlformats.org/drawingml/2006/main">
            <a:off x="571500" y="4429125"/>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Create WGS84 points from logger coordinates with XY Table To Point. Spatial Join deployments to CRW cells, then join cell keys to observations.</a:t>
            </a:r>
          </a:p>
        </p:txBody>
      </p:sp>
      <p:sp>
        <p:nvSpPr>
          <p:cNvPr id="10" name="">
            <a:extLst xmlns:a="http://schemas.openxmlformats.org/drawingml/2006/main">
              <a:ext uri="{FF2B5EF4-FFF2-40B4-BE49-F238E27FC236}">
                <a16:creationId xmlns:a16="http://schemas.microsoft.com/office/drawing/2014/main" id="{E01450A2-2CED-495F-ACFB-67A9FE8C1808}"/>
              </a:ext>
            </a:extLst>
          </p:cNvPr>
          <p:cNvSpPr>
            <a:spLocks xmlns:a="http://schemas.openxmlformats.org/drawingml/2006/main" noGrp="1"/>
          </p:cNvSpPr>
          <p:nvPr/>
        </p:nvSpPr>
        <p:spPr>
          <a:xfrm xmlns:a="http://schemas.openxmlformats.org/drawingml/2006/main">
            <a:off x="6477000" y="39528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Time matching and statistics</a:t>
            </a:r>
          </a:p>
        </p:txBody>
      </p:sp>
      <p:sp>
        <p:nvSpPr>
          <p:cNvPr id="11" name="">
            <a:extLst xmlns:a="http://schemas.openxmlformats.org/drawingml/2006/main">
              <a:ext uri="{FF2B5EF4-FFF2-40B4-BE49-F238E27FC236}">
                <a16:creationId xmlns:a16="http://schemas.microsoft.com/office/drawing/2014/main" id="{12E88A3A-A0CF-4490-AB94-97A79C85E382}"/>
              </a:ext>
            </a:extLst>
          </p:cNvPr>
          <p:cNvSpPr>
            <a:spLocks xmlns:a="http://schemas.openxmlformats.org/drawingml/2006/main" noGrp="1"/>
          </p:cNvSpPr>
          <p:nvPr/>
        </p:nvSpPr>
        <p:spPr>
          <a:xfrm xmlns:a="http://schemas.openxmlformats.org/drawingml/2006/main">
            <a:off x="6477000" y="4429125"/>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Average complete 00:00–06:00 HST nights. Join satellite SST by cell and date. Summarize bias and RMSD by site, depth, year, and season.</a:t>
            </a:r>
          </a:p>
        </p:txBody>
      </p:sp>
      <p:sp>
        <p:nvSpPr>
          <p:cNvPr id="12" name="">
            <a:extLst xmlns:a="http://schemas.openxmlformats.org/drawingml/2006/main">
              <a:ext uri="{FF2B5EF4-FFF2-40B4-BE49-F238E27FC236}">
                <a16:creationId xmlns:a16="http://schemas.microsoft.com/office/drawing/2014/main" id="{BBF0C562-1093-45F0-8E1D-7FFFF4183371}"/>
              </a:ext>
            </a:extLst>
          </p:cNvPr>
          <p:cNvSpPr>
            <a:spLocks xmlns:a="http://schemas.openxmlformats.org/drawingml/2006/main" noGrp="1"/>
          </p:cNvSpPr>
          <p:nvPr/>
        </p:nvSpPr>
        <p:spPr>
          <a:xfrm xmlns:a="http://schemas.openxmlformats.org/drawingml/2006/main">
            <a:off x="571500" y="6038850"/>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67D91"/>
                </a:solidFill>
                <a:latin typeface="Arial"/>
                <a:ea typeface="Arial"/>
                <a:cs typeface="Arial"/>
              </a:defRPr>
            </a:defPPr>
          </a:lstStyle>
          <a:p xmlns:a="http://schemas.openxmlformats.org/drawingml/2006/main">
            <a:pPr>
              <a:buNone/>
              <a:defRPr sz="2100" b="0">
                <a:solidFill>
                  <a:srgbClr val="167D91"/>
                </a:solidFill>
                <a:latin typeface="Arial"/>
                <a:ea typeface="Arial"/>
                <a:cs typeface="Arial"/>
              </a:defRPr>
            </a:pPr>
            <a:r>
              <a:rPr sz="2100" b="0">
                <a:solidFill>
                  <a:srgbClr val="167D91"/>
                </a:solidFill>
                <a:latin typeface="Arial"/>
                <a:ea typeface="Arial"/>
                <a:cs typeface="Arial"/>
              </a:rPr>
              <a:t>RMSD is lower in 2019 at all three sites. Each site/year uses 122 complete nights.</a:t>
            </a:r>
          </a:p>
        </p:txBody>
      </p:sp>
    </p:spTree>
    <p:extLst>
      <p:ext uri="{BB962C8B-B14F-4D97-AF65-F5344CB8AC3E}">
        <p14:creationId xmlns:p14="http://schemas.microsoft.com/office/powerpoint/2010/main" val="58654048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8F21B1-4044-4F22-9EA3-64D1AA9C2E5A}"/>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Persistence wins the forecast test overall</a:t>
            </a:r>
          </a:p>
        </p:txBody>
      </p:sp>
      <p:graphicFrame>
        <p:nvGraphicFramePr>
          <p:cNvPr id="2" name="Chart">
            <a:extLst xmlns:a="http://schemas.openxmlformats.org/drawingml/2006/main">
              <a:ext uri="{FF2B5EF4-FFF2-40B4-BE49-F238E27FC236}">
                <a16:creationId xmlns:a16="http://schemas.microsoft.com/office/drawing/2014/main" id="{CE0E6774-18E4-451C-863A-DAD1FDE5920C}"/>
              </a:ext>
            </a:extLst>
          </p:cNvPr>
          <p:cNvGraphicFramePr/>
          <p:nvPr/>
        </p:nvGraphicFramePr>
        <p:xfrm>
          <a:off xmlns:a="http://schemas.openxmlformats.org/drawingml/2006/main" x="571500" y="1619250"/>
          <a:ext xmlns:a="http://schemas.openxmlformats.org/drawingml/2006/main" cx="6858000" cy="4381500"/>
        </p:xfrm>
        <a:graphic xmlns:a="http://schemas.openxmlformats.org/drawingml/2006/main">
          <a:graphicData uri="http://schemas.openxmlformats.org/drawingml/2006/chart">
            <c:chart xmlns:r="http://schemas.openxmlformats.org/officeDocument/2006/relationships" xmlns:c="http://schemas.openxmlformats.org/drawingml/2006/chart" r:id="R3454e4de8c24448e"/>
          </a:graphicData>
        </a:graphic>
      </p:graphicFrame>
      <p:sp>
        <p:nvSpPr>
          <p:cNvPr id="8" name="">
            <a:extLst xmlns:a="http://schemas.openxmlformats.org/drawingml/2006/main">
              <a:ext uri="{FF2B5EF4-FFF2-40B4-BE49-F238E27FC236}">
                <a16:creationId xmlns:a16="http://schemas.microsoft.com/office/drawing/2014/main" id="{BC6F01F1-C75D-4C4D-89FC-F358243B053B}"/>
              </a:ext>
            </a:extLst>
          </p:cNvPr>
          <p:cNvSpPr>
            <a:spLocks xmlns:a="http://schemas.openxmlformats.org/drawingml/2006/main" noGrp="1"/>
          </p:cNvSpPr>
          <p:nvPr/>
        </p:nvSpPr>
        <p:spPr>
          <a:xfrm xmlns:a="http://schemas.openxmlformats.org/drawingml/2006/main">
            <a:off x="666750" y="6096000"/>
            <a:ext cx="685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Held-out test MAE (°C), 2015–2025</a:t>
            </a:r>
          </a:p>
        </p:txBody>
      </p:sp>
      <p:sp>
        <p:nvSpPr>
          <p:cNvPr id="9" name="">
            <a:extLst xmlns:a="http://schemas.openxmlformats.org/drawingml/2006/main">
              <a:ext uri="{FF2B5EF4-FFF2-40B4-BE49-F238E27FC236}">
                <a16:creationId xmlns:a16="http://schemas.microsoft.com/office/drawing/2014/main" id="{434F5791-7AB8-4192-8F57-624013314E25}"/>
              </a:ext>
            </a:extLst>
          </p:cNvPr>
          <p:cNvSpPr>
            <a:spLocks xmlns:a="http://schemas.openxmlformats.org/drawingml/2006/main" noGrp="1"/>
          </p:cNvSpPr>
          <p:nvPr/>
        </p:nvSpPr>
        <p:spPr>
          <a:xfrm xmlns:a="http://schemas.openxmlformats.org/drawingml/2006/main">
            <a:off x="7953375" y="1476375"/>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67D91"/>
                </a:solidFill>
                <a:latin typeface="Arial"/>
                <a:ea typeface="Arial"/>
                <a:cs typeface="Arial"/>
              </a:defRPr>
            </a:defPPr>
          </a:lstStyle>
          <a:p xmlns:a="http://schemas.openxmlformats.org/drawingml/2006/main">
            <a:pPr>
              <a:buNone/>
              <a:defRPr sz="2175" b="1">
                <a:solidFill>
                  <a:srgbClr val="167D91"/>
                </a:solidFill>
                <a:latin typeface="Arial"/>
                <a:ea typeface="Arial"/>
                <a:cs typeface="Arial"/>
              </a:defRPr>
            </a:pPr>
            <a:r>
              <a:rPr sz="2175" b="1">
                <a:solidFill>
                  <a:srgbClr val="167D91"/>
                </a:solidFill>
                <a:latin typeface="Arial"/>
                <a:ea typeface="Arial"/>
                <a:cs typeface="Arial"/>
              </a:rPr>
              <a:t>Train: 2003–2013</a:t>
            </a:r>
          </a:p>
        </p:txBody>
      </p:sp>
      <p:sp>
        <p:nvSpPr>
          <p:cNvPr id="10" name="">
            <a:extLst xmlns:a="http://schemas.openxmlformats.org/drawingml/2006/main">
              <a:ext uri="{FF2B5EF4-FFF2-40B4-BE49-F238E27FC236}">
                <a16:creationId xmlns:a16="http://schemas.microsoft.com/office/drawing/2014/main" id="{7D90A416-D895-4844-8E4B-423A4E739552}"/>
              </a:ext>
            </a:extLst>
          </p:cNvPr>
          <p:cNvSpPr>
            <a:spLocks xmlns:a="http://schemas.openxmlformats.org/drawingml/2006/main" noGrp="1"/>
          </p:cNvSpPr>
          <p:nvPr/>
        </p:nvSpPr>
        <p:spPr>
          <a:xfrm xmlns:a="http://schemas.openxmlformats.org/drawingml/2006/main">
            <a:off x="7953375" y="1952625"/>
            <a:ext cx="3714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11,949 examples. Fit RF candidates using past SST, season, and cell.</a:t>
            </a:r>
          </a:p>
        </p:txBody>
      </p:sp>
      <p:sp>
        <p:nvSpPr>
          <p:cNvPr id="11" name="">
            <a:extLst xmlns:a="http://schemas.openxmlformats.org/drawingml/2006/main">
              <a:ext uri="{FF2B5EF4-FFF2-40B4-BE49-F238E27FC236}">
                <a16:creationId xmlns:a16="http://schemas.microsoft.com/office/drawing/2014/main" id="{88ABCAC7-9DAD-4B93-8FE3-1AB54B9E86C9}"/>
              </a:ext>
            </a:extLst>
          </p:cNvPr>
          <p:cNvSpPr>
            <a:spLocks xmlns:a="http://schemas.openxmlformats.org/drawingml/2006/main" noGrp="1"/>
          </p:cNvSpPr>
          <p:nvPr/>
        </p:nvSpPr>
        <p:spPr>
          <a:xfrm xmlns:a="http://schemas.openxmlformats.org/drawingml/2006/main">
            <a:off x="7953375" y="3143250"/>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67D91"/>
                </a:solidFill>
                <a:latin typeface="Arial"/>
                <a:ea typeface="Arial"/>
                <a:cs typeface="Arial"/>
              </a:defRPr>
            </a:defPPr>
          </a:lstStyle>
          <a:p xmlns:a="http://schemas.openxmlformats.org/drawingml/2006/main">
            <a:pPr>
              <a:buNone/>
              <a:defRPr sz="2175" b="1">
                <a:solidFill>
                  <a:srgbClr val="167D91"/>
                </a:solidFill>
                <a:latin typeface="Arial"/>
                <a:ea typeface="Arial"/>
                <a:cs typeface="Arial"/>
              </a:defRPr>
            </a:pPr>
            <a:r>
              <a:rPr sz="2175" b="1">
                <a:solidFill>
                  <a:srgbClr val="167D91"/>
                </a:solidFill>
                <a:latin typeface="Arial"/>
                <a:ea typeface="Arial"/>
                <a:cs typeface="Arial"/>
              </a:rPr>
              <a:t>Validate: 2014</a:t>
            </a:r>
          </a:p>
        </p:txBody>
      </p:sp>
      <p:sp>
        <p:nvSpPr>
          <p:cNvPr id="12" name="">
            <a:extLst xmlns:a="http://schemas.openxmlformats.org/drawingml/2006/main">
              <a:ext uri="{FF2B5EF4-FFF2-40B4-BE49-F238E27FC236}">
                <a16:creationId xmlns:a16="http://schemas.microsoft.com/office/drawing/2014/main" id="{A04BDDA0-6EE0-47DA-9532-3BCACF5B27DE}"/>
              </a:ext>
            </a:extLst>
          </p:cNvPr>
          <p:cNvSpPr>
            <a:spLocks xmlns:a="http://schemas.openxmlformats.org/drawingml/2006/main" noGrp="1"/>
          </p:cNvSpPr>
          <p:nvPr/>
        </p:nvSpPr>
        <p:spPr>
          <a:xfrm xmlns:a="http://schemas.openxmlformats.org/drawingml/2006/main">
            <a:off x="7953375" y="3619500"/>
            <a:ext cx="3714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1,074 forecasts. Select depth 16 and leaf size 20. RF MAE: 0.2116°C vs. persistence: 0.2202°C.</a:t>
            </a:r>
          </a:p>
        </p:txBody>
      </p:sp>
      <p:sp>
        <p:nvSpPr>
          <p:cNvPr id="13" name="">
            <a:extLst xmlns:a="http://schemas.openxmlformats.org/drawingml/2006/main">
              <a:ext uri="{FF2B5EF4-FFF2-40B4-BE49-F238E27FC236}">
                <a16:creationId xmlns:a16="http://schemas.microsoft.com/office/drawing/2014/main" id="{17AA3A65-9695-4BEA-A959-6AF53414106A}"/>
              </a:ext>
            </a:extLst>
          </p:cNvPr>
          <p:cNvSpPr>
            <a:spLocks xmlns:a="http://schemas.openxmlformats.org/drawingml/2006/main" noGrp="1"/>
          </p:cNvSpPr>
          <p:nvPr/>
        </p:nvSpPr>
        <p:spPr>
          <a:xfrm xmlns:a="http://schemas.openxmlformats.org/drawingml/2006/main">
            <a:off x="7953375" y="5095875"/>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67D91"/>
                </a:solidFill>
                <a:latin typeface="Arial"/>
                <a:ea typeface="Arial"/>
                <a:cs typeface="Arial"/>
              </a:defRPr>
            </a:defPPr>
          </a:lstStyle>
          <a:p xmlns:a="http://schemas.openxmlformats.org/drawingml/2006/main">
            <a:pPr>
              <a:buNone/>
              <a:defRPr sz="2025" b="1">
                <a:solidFill>
                  <a:srgbClr val="167D91"/>
                </a:solidFill>
                <a:latin typeface="Arial"/>
                <a:ea typeface="Arial"/>
                <a:cs typeface="Arial"/>
              </a:defRPr>
            </a:pPr>
            <a:r>
              <a:rPr sz="2025" b="1">
                <a:solidFill>
                  <a:srgbClr val="167D91"/>
                </a:solidFill>
                <a:latin typeface="Arial"/>
                <a:ea typeface="Arial"/>
                <a:cs typeface="Arial"/>
              </a:rPr>
              <a:t>Refit, then test: 2015–2025</a:t>
            </a:r>
          </a:p>
        </p:txBody>
      </p:sp>
      <p:sp>
        <p:nvSpPr>
          <p:cNvPr id="14" name="">
            <a:extLst xmlns:a="http://schemas.openxmlformats.org/drawingml/2006/main">
              <a:ext uri="{FF2B5EF4-FFF2-40B4-BE49-F238E27FC236}">
                <a16:creationId xmlns:a16="http://schemas.microsoft.com/office/drawing/2014/main" id="{9EA15038-42BA-4B49-BF20-905196AE2F7D}"/>
              </a:ext>
            </a:extLst>
          </p:cNvPr>
          <p:cNvSpPr>
            <a:spLocks xmlns:a="http://schemas.openxmlformats.org/drawingml/2006/main" noGrp="1"/>
          </p:cNvSpPr>
          <p:nvPr/>
        </p:nvSpPr>
        <p:spPr>
          <a:xfrm xmlns:a="http://schemas.openxmlformats.org/drawingml/2006/main">
            <a:off x="7953375" y="5572125"/>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Refit through 2014. Test 11,754 forecasts across three cells.</a:t>
            </a:r>
          </a:p>
        </p:txBody>
      </p:sp>
    </p:spTree>
    <p:extLst>
      <p:ext uri="{BB962C8B-B14F-4D97-AF65-F5344CB8AC3E}">
        <p14:creationId xmlns:p14="http://schemas.microsoft.com/office/powerpoint/2010/main" val="2784499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25012E-6CB7-4D58-A5DE-7349D3A51884}"/>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Heat anomalies expose larger RF errors</a:t>
            </a:r>
          </a:p>
        </p:txBody>
      </p:sp>
      <p:pic>
        <p:nvPicPr>
          <p:cNvPr id="8" name="">
            <a:extLst xmlns:a="http://schemas.openxmlformats.org/drawingml/2006/main">
              <a:ext uri="{FF2B5EF4-FFF2-40B4-BE49-F238E27FC236}">
                <a16:creationId xmlns:a16="http://schemas.microsoft.com/office/drawing/2014/main" id="{C329F119-0873-4465-8EA2-9CD270E15C44}"/>
              </a:ext>
            </a:extLst>
          </p:cNvPr>
          <p:cNvPicPr>
            <a:picLocks xmlns:a="http://schemas.openxmlformats.org/drawingml/2006/main" noChangeAspect="1"/>
          </p:cNvPicPr>
          <p:nvPr/>
        </p:nvPicPr>
        <p:blipFill>
          <a:blip xmlns:r="http://schemas.openxmlformats.org/officeDocument/2006/relationships" xmlns:a="http://schemas.openxmlformats.org/drawingml/2006/main" r:embed="R77e69ffc12064408"/>
          <a:stretch xmlns:a="http://schemas.openxmlformats.org/drawingml/2006/main"/>
        </p:blipFill>
        <p:spPr>
          <a:xfrm xmlns:a="http://schemas.openxmlformats.org/drawingml/2006/main">
            <a:off x="491658" y="1257300"/>
            <a:ext cx="6779559" cy="5238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F81A942-C31C-4689-BCEF-F4933F08A382}"/>
              </a:ext>
            </a:extLst>
          </p:cNvPr>
          <p:cNvSpPr>
            <a:spLocks xmlns:a="http://schemas.openxmlformats.org/drawingml/2006/main" noGrp="1"/>
          </p:cNvSpPr>
          <p:nvPr/>
        </p:nvSpPr>
        <p:spPr>
          <a:xfrm xmlns:a="http://schemas.openxmlformats.org/drawingml/2006/main">
            <a:off x="7905750" y="1524000"/>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Lower stress: DHW &lt;4</a:t>
            </a:r>
          </a:p>
        </p:txBody>
      </p:sp>
      <p:sp>
        <p:nvSpPr>
          <p:cNvPr id="10" name="">
            <a:extLst xmlns:a="http://schemas.openxmlformats.org/drawingml/2006/main">
              <a:ext uri="{FF2B5EF4-FFF2-40B4-BE49-F238E27FC236}">
                <a16:creationId xmlns:a16="http://schemas.microsoft.com/office/drawing/2014/main" id="{44A812F3-B432-4175-9E1D-37FB342609AA}"/>
              </a:ext>
            </a:extLst>
          </p:cNvPr>
          <p:cNvSpPr>
            <a:spLocks xmlns:a="http://schemas.openxmlformats.org/drawingml/2006/main" noGrp="1"/>
          </p:cNvSpPr>
          <p:nvPr/>
        </p:nvSpPr>
        <p:spPr>
          <a:xfrm xmlns:a="http://schemas.openxmlformats.org/drawingml/2006/main">
            <a:off x="7905750" y="2019300"/>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MAE: 0.2214°C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Persistence: 0.2209°C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Nearly identical errors</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11,168 forecasts</a:t>
            </a:r>
          </a:p>
        </p:txBody>
      </p:sp>
      <p:sp>
        <p:nvSpPr>
          <p:cNvPr id="11" name="">
            <a:extLst xmlns:a="http://schemas.openxmlformats.org/drawingml/2006/main">
              <a:ext uri="{FF2B5EF4-FFF2-40B4-BE49-F238E27FC236}">
                <a16:creationId xmlns:a16="http://schemas.microsoft.com/office/drawing/2014/main" id="{5A225F96-C3B7-4A28-AAE6-64A9C3B4121F}"/>
              </a:ext>
            </a:extLst>
          </p:cNvPr>
          <p:cNvSpPr>
            <a:spLocks xmlns:a="http://schemas.openxmlformats.org/drawingml/2006/main" noGrp="1"/>
          </p:cNvSpPr>
          <p:nvPr/>
        </p:nvSpPr>
        <p:spPr>
          <a:xfrm xmlns:a="http://schemas.openxmlformats.org/drawingml/2006/main">
            <a:off x="7905750" y="3667125"/>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High stress: DHW ≥8</a:t>
            </a:r>
          </a:p>
        </p:txBody>
      </p:sp>
      <p:sp>
        <p:nvSpPr>
          <p:cNvPr id="12" name="">
            <a:extLst xmlns:a="http://schemas.openxmlformats.org/drawingml/2006/main">
              <a:ext uri="{FF2B5EF4-FFF2-40B4-BE49-F238E27FC236}">
                <a16:creationId xmlns:a16="http://schemas.microsoft.com/office/drawing/2014/main" id="{F3CD1D34-41EE-49C0-A1C6-124486688729}"/>
              </a:ext>
            </a:extLst>
          </p:cNvPr>
          <p:cNvSpPr>
            <a:spLocks xmlns:a="http://schemas.openxmlformats.org/drawingml/2006/main" noGrp="1"/>
          </p:cNvSpPr>
          <p:nvPr/>
        </p:nvSpPr>
        <p:spPr>
          <a:xfrm xmlns:a="http://schemas.openxmlformats.org/drawingml/2006/main">
            <a:off x="7905750" y="4162425"/>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MAE: 0.4594°C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Persistence: 0.2779°C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error is about 65% higher</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327 forecasts</a:t>
            </a:r>
          </a:p>
        </p:txBody>
      </p:sp>
      <p:sp>
        <p:nvSpPr>
          <p:cNvPr id="13" name="">
            <a:extLst xmlns:a="http://schemas.openxmlformats.org/drawingml/2006/main">
              <a:ext uri="{FF2B5EF4-FFF2-40B4-BE49-F238E27FC236}">
                <a16:creationId xmlns:a16="http://schemas.microsoft.com/office/drawing/2014/main" id="{0DF35F1A-6A5F-4446-B64E-8F899DAB246B}"/>
              </a:ext>
            </a:extLst>
          </p:cNvPr>
          <p:cNvSpPr>
            <a:spLocks xmlns:a="http://schemas.openxmlformats.org/drawingml/2006/main" noGrp="1"/>
          </p:cNvSpPr>
          <p:nvPr/>
        </p:nvSpPr>
        <p:spPr>
          <a:xfrm xmlns:a="http://schemas.openxmlformats.org/drawingml/2006/main">
            <a:off x="7905750" y="576262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In 2015, RF error was about 63% higher than persistence in both southern cells.</a:t>
            </a:r>
          </a:p>
        </p:txBody>
      </p:sp>
      <p:sp>
        <p:nvSpPr>
          <p:cNvPr id="14" name="">
            <a:extLst xmlns:a="http://schemas.openxmlformats.org/drawingml/2006/main">
              <a:ext uri="{FF2B5EF4-FFF2-40B4-BE49-F238E27FC236}">
                <a16:creationId xmlns:a16="http://schemas.microsoft.com/office/drawing/2014/main" id="{3F3C4DD7-1346-4BC3-AE1E-02EDC0737F16}"/>
              </a:ext>
            </a:extLst>
          </p:cNvPr>
          <p:cNvSpPr>
            <a:spLocks xmlns:a="http://schemas.openxmlformats.org/drawingml/2006/main" noGrp="1"/>
          </p:cNvSpPr>
          <p:nvPr/>
        </p:nvSpPr>
        <p:spPr>
          <a:xfrm xmlns:a="http://schemas.openxmlformats.org/drawingml/2006/main">
            <a:off x="571500" y="1028700"/>
            <a:ext cx="1114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a:solidFill>
                  <a:srgbClr val="263C49"/>
                </a:solidFill>
                <a:latin typeface="Arial"/>
                <a:ea typeface="Arial"/>
                <a:cs typeface="Arial"/>
              </a:defRPr>
            </a:defPPr>
          </a:lstStyle>
          <a:p xmlns:a="http://schemas.openxmlformats.org/drawingml/2006/main">
            <a:pPr>
              <a:defRPr sz="1650">
                <a:solidFill>
                  <a:srgbClr val="263C49"/>
                </a:solidFill>
                <a:latin typeface="Arial"/>
                <a:ea typeface="Arial"/>
                <a:cs typeface="Arial"/>
              </a:defRPr>
            </a:pPr>
            <a:r>
              <a:rPr sz="1650">
                <a:solidFill>
                  <a:srgbClr val="263C49"/>
                </a:solidFill>
                <a:latin typeface="Arial"/>
                <a:ea typeface="Arial"/>
                <a:cs typeface="Arial"/>
              </a:rPr>
              <a:t>Error statistics pool all three cells. Animation shows the two southern cells, 2015–2025.</a:t>
            </a:r>
          </a:p>
        </p:txBody>
      </p:sp>
    </p:spTree>
    <p:extLst>
      <p:ext uri="{BB962C8B-B14F-4D97-AF65-F5344CB8AC3E}">
        <p14:creationId xmlns:p14="http://schemas.microsoft.com/office/powerpoint/2010/main" val="7901420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2026-10-17T17:25:03.0980000Z</dcterms:created>
  <dcterms:modified xsi:type="dcterms:W3CDTF">2026-10-17T17:25:03.0980000Z</dcterms:modified>
</coreProperties>
</file>